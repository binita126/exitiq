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76" r:id="rId31"/>
    <p:sldId id="266" r:id="rId17"/>
    <p:sldId id="277" r:id="rId32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6858000" cx="12192000"/>
  <p:notesSz cx="6858000" cy="9144000"/>
  <p:embeddedFontLst>
    <p:embeddedFont>
      <p:font typeface="Quattrocento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CFA05A9-EAEE-45B8-AC17-15F84AF8BC95}">
  <a:tblStyle styleId="{BCFA05A9-EAEE-45B8-AC17-15F84AF8BC95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QuattrocentoSans-regular.fntdata"/><Relationship Id="rId28" Type="http://schemas.openxmlformats.org/officeDocument/2006/relationships/font" Target="fonts/QuattrocentoSans-bold.fntdata"/><Relationship Id="rId29" Type="http://schemas.openxmlformats.org/officeDocument/2006/relationships/font" Target="fonts/QuattrocentoSans-italic.fntdata"/><Relationship Id="rId30" Type="http://schemas.openxmlformats.org/officeDocument/2006/relationships/font" Target="fonts/QuattrocentoSans-boldItalic.fntdata"/><Relationship Id="rId31" Type="http://schemas.openxmlformats.org/officeDocument/2006/relationships/slide" Target="slides/slide21.xml"/><Relationship Id="rId32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3" name="Google Shape;103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6" name="Google Shape;156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0" name="Google Shape;17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3" name="Google Shape;183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4" name="Google Shape;20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17" name="Google Shape;21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6" name="Google Shape;226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3" name="Google Shape;263;p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2" name="Google Shape;272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1" name="Google Shape;281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89" name="Google Shape;289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1" name="Google Shape;33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hyperlink" Target="mailto:binita.anto@mail.com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8.png"/><Relationship Id="rId6" Type="http://schemas.openxmlformats.org/officeDocument/2006/relationships/image" Target="../media/image2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2.png"/><Relationship Id="rId6" Type="http://schemas.openxmlformats.org/officeDocument/2006/relationships/image" Target="../media/image10.jpg"/><Relationship Id="rId7" Type="http://schemas.openxmlformats.org/officeDocument/2006/relationships/image" Target="../media/image11.jpg"/><Relationship Id="rId8" Type="http://schemas.openxmlformats.org/officeDocument/2006/relationships/image" Target="../media/image12.jpg"/><Relationship Id="rId9" Type="http://schemas.openxmlformats.org/officeDocument/2006/relationships/image" Target="../media/image13.jpg"/><Relationship Id="rId10" Type="http://schemas.openxmlformats.org/officeDocument/2006/relationships/image" Target="../media/image1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image" Target="../media/image22.png"/><Relationship Id="rId6" Type="http://schemas.openxmlformats.org/officeDocument/2006/relationships/image" Target="../media/image23.png"/><Relationship Id="rId7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320528" y="3182619"/>
            <a:ext cx="7551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-US" sz="3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image.png" id="86" name="Google Shape;8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70213" y="2268205"/>
            <a:ext cx="5851614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" name="Google Shape;87;p13" title="MBF_Logo_202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700669" y="80825"/>
            <a:ext cx="1491330" cy="784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title="VK colored transparent logo.png"/>
          <p:cNvPicPr preferRelativeResize="0"/>
          <p:nvPr/>
        </p:nvPicPr>
        <p:blipFill rotWithShape="1">
          <a:blip r:embed="rId6">
            <a:alphaModFix/>
          </a:blip>
          <a:srcRect b="44466" l="14673" r="15820" t="33074"/>
          <a:stretch/>
        </p:blipFill>
        <p:spPr>
          <a:xfrm>
            <a:off x="0" y="80825"/>
            <a:ext cx="2428825" cy="784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3"/>
          <p:cNvSpPr txBox="1"/>
          <p:nvPr/>
        </p:nvSpPr>
        <p:spPr>
          <a:xfrm>
            <a:off x="1371600" y="3749052"/>
            <a:ext cx="9926100" cy="14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Edge-AI Based Dynamic Emergency Evacuation &amp; Hazard Prevention System</a:t>
            </a:r>
            <a:endParaRPr sz="1500"/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Theme: AI in Hardware &amp; Manufacturing  |  Sub-theme: Worker Safety &amp; Hazard Prevention</a:t>
            </a:r>
            <a:endParaRPr sz="1500"/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i="0" lang="en-US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Official Vishwakarma Application ID: </a:t>
            </a:r>
            <a:r>
              <a:rPr b="1" lang="en-US">
                <a:solidFill>
                  <a:schemeClr val="dk1"/>
                </a:solidFill>
                <a:highlight>
                  <a:srgbClr val="FCFCFC"/>
                </a:highlight>
              </a:rPr>
              <a:t>VK26-IITI-AHM-0137</a:t>
            </a:r>
            <a:r>
              <a:rPr lang="en-US">
                <a:solidFill>
                  <a:schemeClr val="dk1"/>
                </a:solidFill>
                <a:highlight>
                  <a:srgbClr val="FCFCFC"/>
                </a:highlight>
              </a:rPr>
              <a:t> </a:t>
            </a:r>
            <a:r>
              <a:rPr lang="en-US">
                <a:solidFill>
                  <a:schemeClr val="dk1"/>
                </a:solidFill>
              </a:rPr>
              <a:t> 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00">
              <a:solidFill>
                <a:srgbClr val="107C82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90" name="Google Shape;90;p13"/>
          <p:cNvSpPr txBox="1"/>
          <p:nvPr/>
        </p:nvSpPr>
        <p:spPr>
          <a:xfrm>
            <a:off x="1717225" y="5910950"/>
            <a:ext cx="91983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Binita A														Rhessa H</a:t>
            </a:r>
            <a:b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7"/>
              </a:rPr>
              <a:t>binita.anto@mail.com</a:t>
            </a:r>
            <a:r>
              <a:rPr lang="en-US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											rhessahendry@gmail.com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950" b="1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2000" b="1">
                <a:solidFill>
                  <a:srgbClr val="0E1C36"/>
                </a:solidFill>
                <a:latin typeface="Segoe UI"/>
              </a:defRPr>
            </a:pPr>
            <a:r>
              <a:t>Project Overview: Innovation Summary &amp; Problem Context</a:t>
            </a:r>
            <a:endParaRPr/>
          </a:p>
        </p:txBody>
      </p:sp>
      <p:sp>
        <p:nvSpPr>
          <p:cNvPr id="98" name="Rounded Rectangle 97"/>
          <p:cNvSpPr/>
          <p:nvPr/>
        </p:nvSpPr>
        <p:spPr>
          <a:xfrm>
            <a:off x="731520" y="1020000"/>
            <a:ext cx="5200000" cy="1360000"/>
          </a:xfrm>
          <a:prstGeom prst="roundRect">
            <a:avLst/>
          </a:prstGeom>
          <a:solidFill>
            <a:srgbClr val="FFF7ED"/>
          </a:solidFill>
          <a:ln w="19050">
            <a:solidFill>
              <a:srgbClr val="E356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100" b="1">
                <a:solidFill>
                  <a:srgbClr val="E3562A"/>
                </a:solidFill>
                <a:latin typeface="Segoe UI"/>
              </a:defRPr>
            </a:pPr>
            <a:r>
              <a:t>ONE-LINE INNOVATION SUMMARY</a:t>
            </a:r>
          </a:p>
          <a:p>
            <a:pPr>
              <a:defRPr sz="1150" b="1">
                <a:solidFill>
                  <a:srgbClr val="0E1C36"/>
                </a:solidFill>
                <a:latin typeface="Segoe UI"/>
              </a:defRPr>
            </a:pPr>
            <a:r>
              <a:t>“ExitIQ provides sensor-driven, risk-aware evacuation guidance by dynamically updating routes when monitored zones become hazardous.”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150000" y="1020000"/>
            <a:ext cx="5310000" cy="1360000"/>
          </a:xfrm>
          <a:prstGeom prst="roundRect">
            <a:avLst/>
          </a:prstGeom>
          <a:solidFill>
            <a:srgbClr val="FFF1F2"/>
          </a:solidFill>
          <a:ln w="19050">
            <a:solidFill>
              <a:srgbClr val="BE28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28016" bIns="128016"/>
          <a:lstStyle/>
          <a:p>
            <a:pPr algn="ctr">
              <a:spcAft>
                <a:spcPts val="400"/>
              </a:spcAft>
              <a:defRPr sz="1100" b="1">
                <a:solidFill>
                  <a:srgbClr val="BE2828"/>
                </a:solidFill>
                <a:latin typeface="Segoe UI"/>
              </a:defRPr>
            </a:pPr>
            <a:r>
              <a:t>CORE PROBLEM STATEMENT</a:t>
            </a:r>
          </a:p>
          <a:p>
            <a:pPr>
              <a:defRPr sz="1000">
                <a:solidFill>
                  <a:srgbClr val="2D3748"/>
                </a:solidFill>
                <a:latin typeface="Segoe UI"/>
              </a:defRPr>
            </a:pPr>
            <a:r>
              <a:t>“Conventional fixed evacuation signs may continue directing occupants toward a corridor even when local conditions become hazardous. Industrial environments need timely, location-specific guidance that accounts for changing monitored conditions and recommends an alternative route when one is available.”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731520" y="2520000"/>
            <a:ext cx="3429000" cy="36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BE2828"/>
                </a:solidFill>
                <a:latin typeface="Segoe UI"/>
              </a:defRPr>
            </a:pPr>
            <a:r>
              <a:t>RAPID HAZARD PROPAGATION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In industrial manufacturing plants, chemical storage, and logistics warehouses, fire propagation is non-linear and violent.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Flashover can occur in under 3 minutes, generating dense carbon monoxide, hydrogen cyanide, and toxic VOCs.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Thick smoke reduces corridor visibility to &lt; 1.0 meter within 60 seconds, eliminating visual recognition of landmarks.</a:t>
            </a:r>
          </a:p>
        </p:txBody>
      </p:sp>
      <p:sp>
        <p:nvSpPr>
          <p:cNvPr id="101" name="Rounded Rectangle 100"/>
          <p:cNvSpPr/>
          <p:nvPr/>
        </p:nvSpPr>
        <p:spPr>
          <a:xfrm>
            <a:off x="4379976" y="2520000"/>
            <a:ext cx="3429000" cy="36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E3562A"/>
                </a:solidFill>
                <a:latin typeface="Segoe UI"/>
              </a:defRPr>
            </a:pPr>
            <a:r>
              <a:t>STATIC SIGNAGE BLINDSPOT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Conventional illuminated exit signs (ISO 7010 / NFPA 101) are statically mounted with permanent fixed arrows.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During an emergency, static signs continuously point toward primary designated exits even if that corridor is engulfed in flames.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Trapped occupants following signs blindly walk directly into fire fronts, toxic smoke pools, and collapsed pathways.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Forced retreat causes fatal bottleneck jams, panic surges, and deadly inhalation.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028432" y="2520000"/>
            <a:ext cx="3429000" cy="36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64592" tIns="137160"/>
          <a:lstStyle/>
          <a:p>
            <a:pPr algn="ctr">
              <a:spcAft>
                <a:spcPts val="800"/>
              </a:spcAft>
              <a:defRPr sz="1200" b="1">
                <a:solidFill>
                  <a:srgbClr val="0E1C36"/>
                </a:solidFill>
                <a:latin typeface="Segoe UI"/>
              </a:defRPr>
            </a:pPr>
            <a:r>
              <a:t>TARGET BENEFICIARIES &amp; URGENCY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Primary Users: Industrial shop-floor workers, warehouse personnel, chemical handling technicians, and facility visitors.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Emergency First Responders: Benefit from isolated hazard zones and prevented cluster fatalities.</a:t>
            </a:r>
          </a:p>
          <a:p>
            <a:pPr>
              <a:spcAft>
                <a:spcPts val="600"/>
              </a:spcAft>
              <a:defRPr sz="950">
                <a:solidFill>
                  <a:srgbClr val="2D3748"/>
                </a:solidFill>
                <a:latin typeface="Segoe UI"/>
              </a:defRPr>
            </a:pPr>
            <a:r>
              <a:t>• Regulatory Safety Boundary: Supplements mandatory fire safety infrastructure by providing dynamic local guidance when central networks fail.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User Journey Storyboard: Fixed Conventional Signage vs. Adaptive ExitIQ</a:t>
            </a: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731520" y="1188720"/>
            <a:ext cx="5212080" cy="46634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BEFORE: CONVENTIONAL STATIC EGRESS RESPONSE</a:t>
            </a: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914400" y="1600200"/>
            <a:ext cx="484632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960120" y="1645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CONCEPTUAL FACILITY LAYOUT • STATIC RESPONSE SCENARIO</a:t>
            </a: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1051560" y="2011680"/>
            <a:ext cx="914400" cy="502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0E1C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Worker Zone</a:t>
            </a:r>
            <a:b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(Starting Area)</a:t>
            </a: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2011680" y="2148840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2514600" y="2011680"/>
            <a:ext cx="82296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Junction 1</a:t>
            </a:r>
            <a:br>
              <a:rPr b="1" i="0" lang="en-US" sz="7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(Static Sign ➔)</a:t>
            </a: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3383280" y="2148840"/>
            <a:ext cx="54864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BE2828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3977639" y="1874519"/>
            <a:ext cx="1645920" cy="7772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 B (ACTIVE FIRE)</a:t>
            </a:r>
            <a:b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Static sign points workers HERE</a:t>
            </a:r>
            <a:b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Heavy toxic smoke &amp; blockage!</a:t>
            </a: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2514600" y="2834640"/>
            <a:ext cx="822960" cy="54864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64748B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 C</a:t>
            </a:r>
            <a:br>
              <a:rPr b="0" i="0" lang="en-US" sz="6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6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(Safe Exit 2)</a:t>
            </a:r>
            <a:br>
              <a:rPr b="0" i="0" lang="en-US" sz="6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6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[IGNORED]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14400" y="37947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 Hazard Erupts: Corridor B ignites; rapid toxic smoke accumulation.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2. General Siren: Standard audible alarm sounds; zero zone hazard awareness.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 Static Blindness: Occupants follow permanent directional signs straight toward fire.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4. Fatal Encounter: Workers encounter toxic smoke pool; retreat causes crush panic.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Identified Failure Mode: Zero route adaptability; high smoke inhalation risk.</a:t>
            </a: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6245352" y="1188720"/>
            <a:ext cx="5212080" cy="466344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AFTER: EXITIQ DYNAMIC EGRESS GUIDANCE</a:t>
            </a: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6428232" y="1600200"/>
            <a:ext cx="4846320" cy="2103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6473952" y="1645920"/>
            <a:ext cx="47548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SAME FACILITY LAYOUT • EXITIQ REAL-TIME RECALCULATION</a:t>
            </a: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6565392" y="2011680"/>
            <a:ext cx="914400" cy="5029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9525">
            <a:solidFill>
              <a:srgbClr val="0E1C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Worker Zone</a:t>
            </a:r>
            <a:b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(Starting Area)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7525512" y="2148840"/>
            <a:ext cx="45720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8B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8028431" y="2011680"/>
            <a:ext cx="960120" cy="502920"/>
          </a:xfrm>
          <a:prstGeom prst="rect">
            <a:avLst/>
          </a:prstGeom>
          <a:solidFill>
            <a:srgbClr val="0E1C36"/>
          </a:solidFill>
          <a:ln cap="flat" cmpd="sng" w="9525">
            <a:solidFill>
              <a:srgbClr val="E35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Terminal</a:t>
            </a:r>
            <a:br>
              <a:rPr b="1" i="0" lang="en-US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(LED Flips ⬇)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9418320" y="1874519"/>
            <a:ext cx="1691640" cy="7772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9525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 B: HIGH RISK</a:t>
            </a:r>
            <a:b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LED displays RED [X]</a:t>
            </a:r>
            <a:b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Route Cost: INFINITY (Blocked)</a:t>
            </a: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8366760" y="2560320"/>
            <a:ext cx="274320" cy="4114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28B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15"/>
          <p:cNvSpPr/>
          <p:nvPr/>
        </p:nvSpPr>
        <p:spPr>
          <a:xfrm>
            <a:off x="8028431" y="3017520"/>
            <a:ext cx="1554480" cy="502920"/>
          </a:xfrm>
          <a:prstGeom prst="rect">
            <a:avLst/>
          </a:prstGeom>
          <a:solidFill>
            <a:srgbClr val="F0FDF4"/>
          </a:solidFill>
          <a:ln cap="flat" cmpd="sng" w="9525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 Corridor C ➔ SAFE EXIT 2</a:t>
            </a:r>
            <a:br>
              <a:rPr b="1" i="0" lang="en-US" sz="7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dynamic arrows guide egress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6428232" y="3794760"/>
            <a:ext cx="484632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 Zone Sensing: Sensirion SHT40 + SGP40 detect VOC index jump &amp; thermal rate-of-rise.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2. Edge Risk Assessment: ESP32-S3 classifies Corridor B as HIGH RISK (&lt;500 ms target).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 Dynamic Recalculation: Graph pathfinder assigns infinite weight to Corridor B; selects Exit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4. Physical Redirection: WS2812B green LEDs strobe toward Corridor C; buzzer pulses cadence.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Target Benefit: Eliminates wrong-route entries; verified in Stage 3 comparative trials.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731520" y="5943600"/>
            <a:ext cx="10725912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Note: Illustrative scenario representing proposed dynamic guidance behavior. Quantitative evacuation time reductions are development targets subject to formal Stage 3 physical comparative trials.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Google Shape;133;p16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6"/>
          <p:cNvSpPr txBox="1"/>
          <p:nvPr/>
        </p:nvSpPr>
        <p:spPr>
          <a:xfrm>
            <a:off x="731520" y="365760"/>
            <a:ext cx="96012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Architecture: End-to-End ExitIQ Data Flow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Proposed local-first architecture • diagram is editable in PowerPoint</a:t>
            </a:r>
            <a:endParaRPr/>
          </a:p>
        </p:txBody>
      </p:sp>
      <p:sp>
        <p:nvSpPr>
          <p:cNvPr id="135" name="Google Shape;135;p16"/>
          <p:cNvSpPr/>
          <p:nvPr/>
        </p:nvSpPr>
        <p:spPr>
          <a:xfrm>
            <a:off x="731520" y="1325880"/>
            <a:ext cx="1874519" cy="182880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9050">
            <a:solidFill>
              <a:srgbClr val="93C5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09725" spcFirstLastPara="1" rIns="109725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SENSING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SHT40: temperature &amp; RH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SGP40: VOC air-quality index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Raw readings pre-filtered locally</a:t>
            </a:r>
            <a:endParaRPr/>
          </a:p>
        </p:txBody>
      </p:sp>
      <p:sp>
        <p:nvSpPr>
          <p:cNvPr id="136" name="Google Shape;136;p16"/>
          <p:cNvSpPr/>
          <p:nvPr/>
        </p:nvSpPr>
        <p:spPr>
          <a:xfrm>
            <a:off x="2660903" y="2157984"/>
            <a:ext cx="22860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944367" y="1325880"/>
            <a:ext cx="1874519" cy="1828800"/>
          </a:xfrm>
          <a:prstGeom prst="roundRect">
            <a:avLst>
              <a:gd fmla="val 16667" name="adj"/>
            </a:avLst>
          </a:prstGeom>
          <a:solidFill>
            <a:srgbClr val="F0F9FF"/>
          </a:solidFill>
          <a:ln cap="flat" cmpd="sng" w="19050">
            <a:solidFill>
              <a:srgbClr val="BAE6FD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09725" spcFirstLastPara="1" rIns="109725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EDGE</a:t>
            </a:r>
            <a:b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PROCESSING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ESP32-S3 microcontroller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Multi-sensor verification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Assess zone hazard severity</a:t>
            </a:r>
            <a:endParaRPr/>
          </a:p>
        </p:txBody>
      </p:sp>
      <p:sp>
        <p:nvSpPr>
          <p:cNvPr id="138" name="Google Shape;138;p16"/>
          <p:cNvSpPr/>
          <p:nvPr/>
        </p:nvSpPr>
        <p:spPr>
          <a:xfrm>
            <a:off x="4873750" y="2157984"/>
            <a:ext cx="22860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5157214" y="1325880"/>
            <a:ext cx="1874519" cy="1828800"/>
          </a:xfrm>
          <a:prstGeom prst="roundRect">
            <a:avLst>
              <a:gd fmla="val 16667" name="adj"/>
            </a:avLst>
          </a:prstGeom>
          <a:solidFill>
            <a:srgbClr val="FEFCE8"/>
          </a:solidFill>
          <a:ln cap="flat" cmpd="sng" w="19050">
            <a:solidFill>
              <a:srgbClr val="FDE04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09725" spcFirstLastPara="1" rIns="109725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RISK MAP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Assign 4-state zone risk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Update corridor graph-edge costs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Normal / Warning / High / Critical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7086597" y="2157984"/>
            <a:ext cx="22860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7370061" y="1325880"/>
            <a:ext cx="1874519" cy="182880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9050">
            <a:solidFill>
              <a:srgbClr val="86EFAC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09725" spcFirstLastPara="1" rIns="109725" wrap="square" tIns="128000">
            <a:noAutofit/>
          </a:bodyPr>
          <a:lstStyle/>
          <a:p>
            <a:pPr>
              <a:defRPr sz="900" b="1">
                <a:solidFill>
                  <a:srgbClr val="0E1C36"/>
                </a:solidFill>
                <a:latin typeface="Segoe UI"/>
              </a:defRPr>
            </a:pPr>
            <a:r>
              <a:t>4. ROUTE ENGINE</a:t>
            </a:r>
          </a:p>
          <a:p>
            <a:pPr>
              <a:defRPr sz="900">
                <a:solidFill>
                  <a:srgbClr val="2D3748"/>
                </a:solidFill>
                <a:latin typeface="Segoe UI"/>
              </a:defRPr>
            </a:pPr>
            <a:r>
              <a:t>• Shortest-path algorithm (Dijkstra)</a:t>
            </a:r>
            <a:br/>
            <a:r>
              <a:t>• Penalize hazardous zones</a:t>
            </a:r>
            <a:br/>
            <a:r>
              <a:t>• Select reachable safe exit path</a:t>
            </a:r>
          </a:p>
        </p:txBody>
      </p:sp>
      <p:sp>
        <p:nvSpPr>
          <p:cNvPr id="142" name="Google Shape;142;p16"/>
          <p:cNvSpPr/>
          <p:nvPr/>
        </p:nvSpPr>
        <p:spPr>
          <a:xfrm>
            <a:off x="9299444" y="2157984"/>
            <a:ext cx="228600" cy="164592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9582908" y="1325880"/>
            <a:ext cx="1874519" cy="1828800"/>
          </a:xfrm>
          <a:prstGeom prst="roundRect">
            <a:avLst>
              <a:gd fmla="val 16667" name="adj"/>
            </a:avLst>
          </a:prstGeom>
          <a:solidFill>
            <a:srgbClr val="ECFDF5"/>
          </a:solidFill>
          <a:ln cap="flat" cmpd="sng" w="19050">
            <a:solidFill>
              <a:srgbClr val="6EE7B7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09725" spcFirstLastPara="1" rIns="109725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GUIDANCE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Dynamic directional LEDs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SSD1306 OLED text display</a:t>
            </a:r>
            <a:b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19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Local buzzer audible cadence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10511023" y="3246120"/>
            <a:ext cx="18288" cy="347472"/>
          </a:xfrm>
          <a:prstGeom prst="rect">
            <a:avLst/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3881626" y="3575304"/>
            <a:ext cx="6638541" cy="18288"/>
          </a:xfrm>
          <a:prstGeom prst="rect">
            <a:avLst/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3872482" y="3383280"/>
            <a:ext cx="18288" cy="210312"/>
          </a:xfrm>
          <a:prstGeom prst="rect">
            <a:avLst/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3799330" y="3246120"/>
            <a:ext cx="164592" cy="146304"/>
          </a:xfrm>
          <a:prstGeom prst="up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155946" y="3337560"/>
            <a:ext cx="6089901" cy="237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n-US" sz="78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Continuous monitoring &amp; route re-evaluation loop (target update cadence to be validated in Stage 3)</a:t>
            </a:r>
            <a:endParaRPr/>
          </a:p>
        </p:txBody>
      </p:sp>
      <p:sp>
        <p:nvSpPr>
          <p:cNvPr id="149" name="Google Shape;149;p16"/>
          <p:cNvSpPr/>
          <p:nvPr/>
        </p:nvSpPr>
        <p:spPr>
          <a:xfrm>
            <a:off x="731520" y="3886200"/>
            <a:ext cx="3364992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46300" spcFirstLastPara="1" rIns="14630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A. LOCAL COMMUNICATIONS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Planned node-to-node local protocol (ESP-NOW / BLE mesh)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100% local-first architecture; zero external cloud dependency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Defined node-to-node timeout &amp; loss-of-link failure behavior</a:t>
            </a:r>
            <a:endParaRPr/>
          </a:p>
        </p:txBody>
      </p:sp>
      <p:sp>
        <p:nvSpPr>
          <p:cNvPr id="150" name="Google Shape;150;p16"/>
          <p:cNvSpPr/>
          <p:nvPr/>
        </p:nvSpPr>
        <p:spPr>
          <a:xfrm>
            <a:off x="4416552" y="3886200"/>
            <a:ext cx="3364992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46300" spcFirstLastPara="1" rIns="14630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B. POWER &amp; BACKUP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TI BQ24074 Dynamic Power-Path Management (DPPM)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Direct system powering while charging 18650 Li-Ion cell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TPS61023 synchronous 5V boost; runtime/switchover subject to test</a:t>
            </a:r>
            <a:endParaRPr/>
          </a:p>
        </p:txBody>
      </p:sp>
      <p:sp>
        <p:nvSpPr>
          <p:cNvPr id="151" name="Google Shape;151;p16"/>
          <p:cNvSpPr/>
          <p:nvPr/>
        </p:nvSpPr>
        <p:spPr>
          <a:xfrm>
            <a:off x="8101584" y="3886200"/>
            <a:ext cx="3364992" cy="1536192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152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91425" lIns="146300" spcFirstLastPara="1" rIns="146300" wrap="square" tIns="128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8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C. FAIL-SAFE LOGIC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Stale sensor / communication timeout marks zone HIGH RISK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FreeRTOS hardware watchdog resets locked pathfinding tasks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If no reachable safe exit exists: trigger site emergency shelter rule</a:t>
            </a:r>
            <a:endParaRPr/>
          </a:p>
        </p:txBody>
      </p:sp>
      <p:sp>
        <p:nvSpPr>
          <p:cNvPr id="152" name="Google Shape;152;p16"/>
          <p:cNvSpPr/>
          <p:nvPr/>
        </p:nvSpPr>
        <p:spPr>
          <a:xfrm>
            <a:off x="731520" y="5596128"/>
            <a:ext cx="10725912" cy="5486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54850" lIns="182875" spcFirstLastPara="1" rIns="182875" wrap="square" tIns="73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 Demarcation &amp; Safety Boundary Note: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is a proposed supplementary evacuation-guidance prototype. The SHT40 measures temperature and relative humidity; the SGP40 provides a VOC air-quality index and is not a certified smoke or toxic-gas detector. ExitIQ does not replace certified fire alarms, required exit signage, or approved emergency procedures.</a:t>
            </a:r>
            <a:endParaRPr/>
          </a:p>
        </p:txBody>
      </p:sp>
      <p:pic>
        <p:nvPicPr>
          <p:cNvPr id="153" name="Google Shape;153;p16" title="MBF_Logo_20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7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System Flow: Real-Time Hazard Sensing to Guidance Actuation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731520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1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HAZARD DETECT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SHT40 registers thermal spike (&gt;5°C/min); SGP40 VOC index jumps from 100 to 450.</a:t>
            </a:r>
            <a:endParaRPr/>
          </a:p>
        </p:txBody>
      </p:sp>
      <p:sp>
        <p:nvSpPr>
          <p:cNvPr id="162" name="Google Shape;162;p17"/>
          <p:cNvSpPr/>
          <p:nvPr/>
        </p:nvSpPr>
        <p:spPr>
          <a:xfrm>
            <a:off x="2542032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2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SENSOR FUSION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ESP32-S3 cross-validates dual sensor metrics, eliminating single-sensor false triggers.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4352544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3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RISK MAP UPDATE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 B classified as HIGH RISK state in local memory in &lt;500 ms target.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6163056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4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ROUTE RECALC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Dijkstra pathfinder penalizes Corridor B; selects alternate safe path to Exit 2 in &lt;100 ms target.</a:t>
            </a:r>
            <a:endParaRPr/>
          </a:p>
        </p:txBody>
      </p:sp>
      <p:sp>
        <p:nvSpPr>
          <p:cNvPr id="165" name="Google Shape;165;p17"/>
          <p:cNvSpPr/>
          <p:nvPr/>
        </p:nvSpPr>
        <p:spPr>
          <a:xfrm>
            <a:off x="7973568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5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5. PHYSICAL ACTUATE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WS2812B LEDs strobe green to Exit 2; OLED displays text; buzzer pulses alert.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9784080" y="1280160"/>
            <a:ext cx="1664208" cy="292608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37150" spcFirstLastPara="1" rIns="13715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STEP 6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6. ADAPT CONTINUOUS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FreeRTOS task loops every 500ms, dynamically updating as hazard front advances.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731520" y="4389120"/>
            <a:ext cx="10725912" cy="155448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107C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371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ILLUSTRATIVE EVACUATION SCENARIO: CORRIDOR B BLOCKED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Initial State: Plant workers in Zone 1 are guided by static exit signs toward Central Exit 1 via Corridor B.</a:t>
            </a:r>
            <a:b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Hazard Eruption: An electrical fire in Corridor B triggers thermal spikes and toxic gas generation.</a:t>
            </a:r>
            <a:b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ExitIQ Response: Sensing node immediately detects environmental degradation, marks Corridor B as HIGH RISK, and dynamically flips junction LED arrows 180° to guide occupants through Corridor A toward safe Eastern Exit 2.</a:t>
            </a:r>
            <a:b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Result: Eliminates panic, prevents toxic smoke exposure, and completes safe egress within statutory limits.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Zone-Based Hazard Assessment &amp; Sensor Fusion Calibration Matrix</a:t>
            </a: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31520" y="1280160"/>
            <a:ext cx="2542032" cy="146304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NORMAL (SAFE)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Temp: 20°C - 35°C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VOC Index: &lt; 150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Baseline conditions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Action: Multiplier: 1.0x</a:t>
            </a:r>
            <a:b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Green steady beacon</a:t>
            </a: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3456432" y="1280160"/>
            <a:ext cx="2542032" cy="1463040"/>
          </a:xfrm>
          <a:prstGeom prst="roundRect">
            <a:avLst>
              <a:gd fmla="val 16667" name="adj"/>
            </a:avLst>
          </a:prstGeom>
          <a:solidFill>
            <a:srgbClr val="FEFCE8"/>
          </a:solidFill>
          <a:ln cap="flat" cmpd="sng" w="12700">
            <a:solidFill>
              <a:srgbClr val="D9821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D9821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WARNING (ALERT)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Temp: 35°C - 50°C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VOC Index: 150 - 250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Persistent gas rise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D9821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Action: Multiplier: 2.5x</a:t>
            </a:r>
            <a:br>
              <a:rPr b="1" i="0" lang="en-US" sz="800" u="none" cap="none" strike="noStrike">
                <a:solidFill>
                  <a:srgbClr val="D9821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D98214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Pre-alert dashboard</a:t>
            </a: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6181344" y="1280160"/>
            <a:ext cx="2542032" cy="1463040"/>
          </a:xfrm>
          <a:prstGeom prst="roundRect">
            <a:avLst>
              <a:gd fmla="val 16667" name="adj"/>
            </a:avLst>
          </a:prstGeom>
          <a:solidFill>
            <a:srgbClr val="EEF2F6"/>
          </a:solidFill>
          <a:ln cap="flat" cmpd="sng" w="12700">
            <a:solidFill>
              <a:srgbClr val="E35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HIGH RISK (AVOID)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Temp: &gt; 50°C / rate spike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VOC Index: 250 - 400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Combustion detected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Action: Multiplier: 10.0x</a:t>
            </a:r>
            <a:b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LED redirect</a:t>
            </a: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8906256" y="1280160"/>
            <a:ext cx="2542032" cy="14630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09725" spcFirstLastPara="1" rIns="109725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CRITICAL (BLOCKED)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Temp: &gt; 70°C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VOC Index: &gt; 400</a:t>
            </a:r>
            <a:b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Dense toxic smoke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Action: Multiplier: Infinity</a:t>
            </a:r>
            <a:b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Red X strobe + siren</a:t>
            </a:r>
            <a:endParaRPr/>
          </a:p>
        </p:txBody>
      </p:sp>
      <p:graphicFrame>
        <p:nvGraphicFramePr>
          <p:cNvPr id="178" name="Google Shape;178;p18"/>
          <p:cNvGraphicFramePr/>
          <p:nvPr/>
        </p:nvGraphicFramePr>
        <p:xfrm>
          <a:off x="731520" y="29260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{BCFA05A9-EAEE-45B8-AC17-15F84AF8BC95}</a:tableStyleId>
              </a:tblPr>
              <a:tblGrid>
                <a:gridCol w="1645925"/>
                <a:gridCol w="3291850"/>
                <a:gridCol w="1828800"/>
                <a:gridCol w="1920250"/>
                <a:gridCol w="2039100"/>
              </a:tblGrid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Risk State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Provisional Trigger Rule / Conditions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Edge Route Action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Visual Guidance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Acoustic Output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Normal (Safe)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Temp nominal (20–35°C), VOC Index &lt; 150 (baseline ambient air).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Multiplier: 1.0x (Baseline edge weight). Preferred route.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Steady green exit pictogram; ambient white LED illumination.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Silent (Standby). No audible signal.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Warning (Alert)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Thermal rate-of-rise &gt; 3°C/min OR VOC Index 150–250 (persistent degradation).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Multiplier: 2.5x. Traversal discouraged if alternatives exist.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OLED status: 'CAUTION: HAZARD NEARBY'; yellow caution border.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Intermittent soft chirp (50 dBA @ 10s intervals).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E356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High Risk (Avoid)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Sustained temp &gt; 50°C OR VOC Index 250–400 (combustion byproducts detected).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Multiplier: 10.0x. Route heavily penalized; triggers recalculation.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Dynamic WS2812B green LEDs flip to point toward alternate safe exit.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Directional pulse alert (75 dBA, 1 Hz cadence).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37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E3562A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Critical (Blocked)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Extreme temp &gt; 70°C OR VOC Index &gt; 400 (toxic smoke pool) OR node link failure.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Multiplier: INFINITY (Edge weight pruned from graph). Path closed.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Pulsing red [X] symbol; OLED: 'CORRIDOR BLOCKED - DO NOT ENTER'.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Continuous emergency siren (85 dBA CUI CMT-8540S).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179" name="Google Shape;179;p18"/>
          <p:cNvSpPr txBox="1"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80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Calibration Status: Thresholds shown are provisional calibration values established from component datasheets and laboratory chamber testing. Final operational thresholds require validation in formal Stage 3 smoke chamber and fire-drill trials.</a:t>
            </a:r>
            <a:endParaRPr/>
          </a:p>
        </p:txBody>
      </p:sp>
      <p:pic>
        <p:nvPicPr>
          <p:cNvPr id="180" name="Google Shape;180;p18" title="MBF_Logo_20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9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Dynamic Route Planning: Real-Time Graph Recalculation Around Hazards</a:t>
            </a:r>
            <a:endParaRPr/>
          </a:p>
        </p:txBody>
      </p:sp>
      <p:sp>
        <p:nvSpPr>
          <p:cNvPr id="187" name="Google Shape;187;p19"/>
          <p:cNvSpPr/>
          <p:nvPr/>
        </p:nvSpPr>
        <p:spPr>
          <a:xfrm>
            <a:off x="731520" y="1234440"/>
            <a:ext cx="5943600" cy="4663440"/>
          </a:xfrm>
          <a:prstGeom prst="rect">
            <a:avLst/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9"/>
          <p:cNvSpPr txBox="1"/>
          <p:nvPr/>
        </p:nvSpPr>
        <p:spPr>
          <a:xfrm>
            <a:off x="822960" y="1280160"/>
            <a:ext cx="5760720" cy="320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CONCEPTUAL FACILITY GRAPH: DYNAMIC RE-ROUTING (STAGE 2 LAB LAYOUT)</a:t>
            </a:r>
            <a:endParaRPr/>
          </a:p>
        </p:txBody>
      </p:sp>
      <p:sp>
        <p:nvSpPr>
          <p:cNvPr id="189" name="Google Shape;189;p19"/>
          <p:cNvSpPr/>
          <p:nvPr/>
        </p:nvSpPr>
        <p:spPr>
          <a:xfrm>
            <a:off x="1005840" y="1828800"/>
            <a:ext cx="1371600" cy="7315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9050">
            <a:solidFill>
              <a:srgbClr val="0E1C3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OCCUPANT START</a:t>
            </a:r>
            <a:b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Zone 1 (Workshop)</a:t>
            </a:r>
            <a:b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Initial: 25 Occupants</a:t>
            </a:r>
            <a:endParaRPr/>
          </a:p>
        </p:txBody>
      </p:sp>
      <p:sp>
        <p:nvSpPr>
          <p:cNvPr id="190" name="Google Shape;190;p19"/>
          <p:cNvSpPr/>
          <p:nvPr/>
        </p:nvSpPr>
        <p:spPr>
          <a:xfrm>
            <a:off x="2468880" y="2057400"/>
            <a:ext cx="59436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107C8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3154680" y="1828800"/>
            <a:ext cx="1280160" cy="73152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 cap="flat" cmpd="sng" w="25400">
            <a:solidFill>
              <a:srgbClr val="E35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JUNCTION J1</a:t>
            </a:r>
            <a:b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[ExitIQ Node 1]</a:t>
            </a:r>
            <a:b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Re-evaluates Path</a:t>
            </a:r>
            <a:endParaRPr/>
          </a:p>
        </p:txBody>
      </p:sp>
      <p:sp>
        <p:nvSpPr>
          <p:cNvPr id="192" name="Google Shape;192;p19"/>
          <p:cNvSpPr/>
          <p:nvPr/>
        </p:nvSpPr>
        <p:spPr>
          <a:xfrm>
            <a:off x="4526280" y="2057400"/>
            <a:ext cx="594360" cy="2286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64748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5166360" y="1691640"/>
            <a:ext cx="1371600" cy="100584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25400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CORRIDOR B</a:t>
            </a:r>
            <a:b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Hazard: HIGH RISK</a:t>
            </a:r>
            <a:b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Weight: INFINITY</a:t>
            </a:r>
            <a:b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[BLOCKED / AVOID]</a:t>
            </a:r>
            <a:endParaRPr/>
          </a:p>
        </p:txBody>
      </p:sp>
      <p:sp>
        <p:nvSpPr>
          <p:cNvPr id="194" name="Google Shape;194;p19"/>
          <p:cNvSpPr/>
          <p:nvPr/>
        </p:nvSpPr>
        <p:spPr>
          <a:xfrm>
            <a:off x="5166360" y="2834640"/>
            <a:ext cx="1371600" cy="502920"/>
          </a:xfrm>
          <a:prstGeom prst="rect">
            <a:avLst/>
          </a:prstGeom>
          <a:solidFill>
            <a:srgbClr val="F8FAFC"/>
          </a:solidFill>
          <a:ln cap="flat" cmpd="sng" w="9525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PRIMARY EXIT 1</a:t>
            </a:r>
            <a:b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7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[COMPROMISED]</a:t>
            </a:r>
            <a:endParaRPr/>
          </a:p>
        </p:txBody>
      </p:sp>
      <p:sp>
        <p:nvSpPr>
          <p:cNvPr id="195" name="Google Shape;195;p19"/>
          <p:cNvSpPr/>
          <p:nvPr/>
        </p:nvSpPr>
        <p:spPr>
          <a:xfrm>
            <a:off x="3611880" y="2651760"/>
            <a:ext cx="365760" cy="64008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228B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2834640" y="3383280"/>
            <a:ext cx="1920240" cy="73152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905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✔ CORRIDOR C (ALTERNATIVE)</a:t>
            </a:r>
            <a:b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Sensor Status: NORMAL (Safe)</a:t>
            </a:r>
            <a:b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8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Distance: 28m | Weight: 1.0x</a:t>
            </a:r>
            <a:endParaRPr/>
          </a:p>
        </p:txBody>
      </p:sp>
      <p:sp>
        <p:nvSpPr>
          <p:cNvPr id="197" name="Google Shape;197;p19"/>
          <p:cNvSpPr/>
          <p:nvPr/>
        </p:nvSpPr>
        <p:spPr>
          <a:xfrm>
            <a:off x="4846320" y="3611880"/>
            <a:ext cx="548640" cy="27432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228B22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5486400" y="3383280"/>
            <a:ext cx="1051560" cy="731520"/>
          </a:xfrm>
          <a:prstGeom prst="roundRect">
            <a:avLst>
              <a:gd fmla="val 16667" name="adj"/>
            </a:avLst>
          </a:prstGeom>
          <a:solidFill>
            <a:srgbClr val="228B22"/>
          </a:solidFill>
          <a:ln cap="flat" cmpd="sng" w="9525">
            <a:solidFill>
              <a:srgbClr val="2D374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0" spcFirstLastPara="1" rIns="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</a:t>
            </a:r>
            <a:b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 2</a:t>
            </a:r>
            <a:b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1" i="0" lang="en-US" sz="9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[CLEAR]</a:t>
            </a:r>
            <a:endParaRPr/>
          </a:p>
        </p:txBody>
      </p:sp>
      <p:sp>
        <p:nvSpPr>
          <p:cNvPr id="199" name="Google Shape;199;p19"/>
          <p:cNvSpPr/>
          <p:nvPr/>
        </p:nvSpPr>
        <p:spPr>
          <a:xfrm>
            <a:off x="914400" y="4343400"/>
            <a:ext cx="5577840" cy="1417320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DIAGRAM LEGEND &amp; VERIFICATION CONTEXT: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Initial Path (Grey): Pre-incident baseline route pointing toward Exit 1 via Corridor 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Blocked Route (Red): Active fire detected; corridor assigned INFINITE cost and pruned from pathfinder.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Recalculated Route (Green): Dijkstra algorithm dynamically routes through safe Corridor C to Exit 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Status Note: Conceptual test topology for Stage 2 validation; not an actual facility architectural blueprint.</a:t>
            </a:r>
            <a:endParaRPr/>
          </a:p>
        </p:txBody>
      </p:sp>
      <p:sp>
        <p:nvSpPr>
          <p:cNvPr id="200" name="Google Shape;200;p19"/>
          <p:cNvSpPr/>
          <p:nvPr/>
        </p:nvSpPr>
        <p:spPr>
          <a:xfrm>
            <a:off x="6976872" y="1234440"/>
            <a:ext cx="4480560" cy="46634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ALGORITHMIC ROUTE RECALCULATION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Cost Function: C(e) = Length(e) × Risk_Multiplier(z) + Congestion(e)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 Pre-Defined Topology: Building corridors and junctions stored as a directed graph G=(V,E) in ESP32-S3 Flash memory.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2. Real-Time Risk Ingestion: Zone hazard states continuously update edge weights in memory (&lt;500 ms target sensor-to-graph latency).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 Penalty Execution: Normal zones = 1.0x; Warning = 2.5x; High Risk = 10.0x; Critical zones = INFINITY (edge pruned).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4. Shortest Safe Path: Dijkstra / heuristic A* solves the modified graph in &lt;100 ms target on the ESP32-S3 internal core.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5. Hardware Output: Physical direction vector transmitted to junction WS2812B LED light guides and OLED bezel panels.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6. Invariant Safety Check: The algorithm strictly forbids routing into active hazards. If all exits are blocked, shelter-in-place engages.</a:t>
            </a:r>
            <a:endParaRPr/>
          </a:p>
        </p:txBody>
      </p:sp>
      <p:pic>
        <p:nvPicPr>
          <p:cNvPr id="201" name="Google Shape;201;p19" title="MBF_Logo_20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" name="Google Shape;206;p20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0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Hardware Subsystems: Verified Component Selection &amp; Architecture</a:t>
            </a:r>
            <a:endParaRPr/>
          </a:p>
        </p:txBody>
      </p:sp>
      <p:sp>
        <p:nvSpPr>
          <p:cNvPr id="208" name="Google Shape;208;p20"/>
          <p:cNvSpPr/>
          <p:nvPr/>
        </p:nvSpPr>
        <p:spPr>
          <a:xfrm>
            <a:off x="731520" y="128016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CONTROLLER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ESP32-S3-DevKitC-1-N8R8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Dual-core Xtensa LX7 @ 240MHz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8MB Octal Flash + 8MB Octal PSRAM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Vector instructions accelerate TinyML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Integrated 2.4GHz Wi-Fi + BLE 5.0 mesh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FreeRTOS multi-tasking task scheduler</a:t>
            </a:r>
            <a:endParaRPr/>
          </a:p>
        </p:txBody>
      </p:sp>
      <p:sp>
        <p:nvSpPr>
          <p:cNvPr id="209" name="Google Shape;209;p20"/>
          <p:cNvSpPr/>
          <p:nvPr/>
        </p:nvSpPr>
        <p:spPr>
          <a:xfrm>
            <a:off x="4379976" y="128016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THERMAL SENSOR BAY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Sensirion SHT40-AD1B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High-precision digital temperature/RH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Accuracy: ±0.2°C typ (0°C to 60°C)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Fast response time: τ63% = 2.0 seconds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Ultra-low power: 0.4 µA average @ 1Hz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I2C Interface: Standard fast-mode 400kHz</a:t>
            </a:r>
            <a:endParaRPr/>
          </a:p>
        </p:txBody>
      </p:sp>
      <p:sp>
        <p:nvSpPr>
          <p:cNvPr id="210" name="Google Shape;210;p20"/>
          <p:cNvSpPr/>
          <p:nvPr/>
        </p:nvSpPr>
        <p:spPr>
          <a:xfrm>
            <a:off x="8028432" y="128016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COMBUSTION / VOC SENSOR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Sensirion SGP40-DIS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Digital MOx VOC Air Quality Sensor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Integrated micro-hotplate sensor element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Digital VOC Index algorithm output (0–500)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Senses smoldering fire pyrolysis gases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Compensated via SHT40 temp/RH feeds</a:t>
            </a:r>
            <a:endParaRPr/>
          </a:p>
        </p:txBody>
      </p:sp>
      <p:sp>
        <p:nvSpPr>
          <p:cNvPr id="211" name="Google Shape;211;p20"/>
          <p:cNvSpPr/>
          <p:nvPr/>
        </p:nvSpPr>
        <p:spPr>
          <a:xfrm>
            <a:off x="731520" y="361188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POWER-PATH MANAGER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Texas Instruments BQ24074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Autonomous Dynamic Power-Path (DPPM)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Supplies system directly while charging cell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&lt;100ns brownout-free battery switchover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1.5A max charge current (ISET configured)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Under-voltage &amp; over-current protection</a:t>
            </a:r>
            <a:endParaRPr/>
          </a:p>
        </p:txBody>
      </p:sp>
      <p:sp>
        <p:nvSpPr>
          <p:cNvPr id="212" name="Google Shape;212;p20"/>
          <p:cNvSpPr/>
          <p:nvPr/>
        </p:nvSpPr>
        <p:spPr>
          <a:xfrm>
            <a:off x="4379976" y="361188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5V SYNCHRONOUS BOOST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Texas Instruments TPS61023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Synchronous battery-to-5V step-up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3.7A valley switch current limit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Supplies clean 5V to WS2812B LEDs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&gt;92% power conversion efficiency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Stable operation down to 2.7V battery cutoff</a:t>
            </a:r>
            <a:endParaRPr/>
          </a:p>
        </p:txBody>
      </p:sp>
      <p:sp>
        <p:nvSpPr>
          <p:cNvPr id="213" name="Google Shape;213;p20"/>
          <p:cNvSpPr/>
          <p:nvPr/>
        </p:nvSpPr>
        <p:spPr>
          <a:xfrm>
            <a:off x="8028432" y="3611880"/>
            <a:ext cx="342900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64748B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EGRESS GUIDANCE OUTPUTS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WS2812B + OLED + Buzzer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8x WS2812B 5050 RGB addressable LEDs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TI 74AHCT1G125 3.3V-to-5V level shifter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0.96' 128x64 SSD1306 Graphic OLED panel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CUI CMT-8540S 85 dBA 4kHz audio buzzer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Triple multi-modal egress alert channels</a:t>
            </a:r>
            <a:endParaRPr/>
          </a:p>
        </p:txBody>
      </p:sp>
      <p:pic>
        <p:nvPicPr>
          <p:cNvPr id="214" name="Google Shape;214;p20" title="MBF_Logo_20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21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1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Itemized Prototype Bill of Materials (BOM) &amp; Domestic Sourcing</a:t>
            </a:r>
            <a:endParaRPr/>
          </a:p>
        </p:txBody>
      </p:sp>
      <p:graphicFrame>
        <p:nvGraphicFramePr>
          <p:cNvPr id="221" name="Google Shape;221;p21"/>
          <p:cNvGraphicFramePr/>
          <p:nvPr/>
        </p:nvGraphicFramePr>
        <p:xfrm>
          <a:off x="73152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{BCFA05A9-EAEE-45B8-AC17-15F84AF8BC95}</a:tableStyleId>
              </a:tblPr>
              <a:tblGrid>
                <a:gridCol w="548650"/>
                <a:gridCol w="3017525"/>
                <a:gridCol w="2103125"/>
                <a:gridCol w="548650"/>
                <a:gridCol w="2953500"/>
                <a:gridCol w="1554475"/>
              </a:tblGrid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Item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Component MPN &amp; Description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Package / Form Factor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Qty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Sourcing Vendor &amp; Lead Time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Line Total (INR)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ESP32-S3-DevKitC-1-N8R8 MCU Carrier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DIP-44 (2x22 2.54mm socket headers)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Robu.in / Mouser India (3-5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₹850.00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 BQ24074RGTR Power-Path &amp; Li-Ion Charger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VQFN-16 (3.0 x 3.0 mm)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Mouser / Element14 India (5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₹240.00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3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 TPS61023DRLR Synchronous 5V Boost Converter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SOT-563 (1.6 x 1.6 mm)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Mouser India (5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₹125.00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Sensirion SHT40-AD1B-R2 Digital Temp/RH Sensor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DFN-4 (1.5 x 1.5 mm)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Mouser / Evelta India (4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₹180.00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Sensirion SGP40-DIS-R4 Digital MOx VOC Sensor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DFN-6 (2.44 x 2.44 mm)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Mouser India (5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₹310.00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6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Worldsemi WS2812B-B Intelligent RGB LEDs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5050 SMD (5.0 x 5.0 mm)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Robu.in / Evelta India (2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₹120.00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7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CUI CMT-8540S Buzzer + 74AHCT125 Level Shifter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SMD Magnetic + SOT-23-5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 set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Robu.in / Domestic (2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₹140.00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8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0.96' 128x64 SSD1306 Graphic OLED Display Panel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4-pin I2C Panel (26 x 15 mm active)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Robu.in (2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₹220.00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9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Samsung/Panasonic 18650 3400mAh Li-Ion Cell + PCM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Cylindrical Cell + Protection Circuit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Domestic / Robu.in (3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₹450.00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361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2-Layer Custom FR4 Carrier PCB (Batch Amortized)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100.0 x 80.0 x 1.6 mm FR4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1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19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LionCircuits India (6 days)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19" u="none" cap="none" strike="noStrike">
                          <a:solidFill>
                            <a:srgbClr val="0E1C36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₹350.00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222" name="Google Shape;222;p21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TOTAL ESTIMATED PROTOTYPE NODE COST: ₹3,585 INR  (Per-Node Prototype Estimate)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Cost Scope: Items 1–10 subtotal ₹2,985 + ₹600 allocation for SMD passives/TVS/PTC, connectors/inserts, and 3D printed PETG enclosure.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Exclusions / Assumptions: Excludes domestic courier freight and 18% GST. Volume batch production (&gt;1,000 nodes) projected to reduce unit cost to ~₹1,850 INR.</a:t>
            </a:r>
            <a:endParaRPr/>
          </a:p>
        </p:txBody>
      </p:sp>
      <p:pic>
        <p:nvPicPr>
          <p:cNvPr id="223" name="Google Shape;223;p21" title="MBF_Logo_2020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22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22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Mechanical CAD Engineering: Enclosure Design, Clearances &amp; Thermal Isolation</a:t>
            </a:r>
            <a:endParaRPr/>
          </a:p>
        </p:txBody>
      </p:sp>
      <p:sp>
        <p:nvSpPr>
          <p:cNvPr id="230" name="Google Shape;230;p22"/>
          <p:cNvSpPr/>
          <p:nvPr/>
        </p:nvSpPr>
        <p:spPr>
          <a:xfrm>
            <a:off x="731520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CATIA V5 ENCLOSURE SPECIFICATIONS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Enclosure Envelope: 114.0 mm x 94.0 mm x 26.0 mm with 2.5 mm nominal wall thickness.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Internal Clearance: 104.0 x 84.0 x 21.0 mm; provides +2.4mm headroom above ESP32 socket headers and +3.4mm above bulk capacitors.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Mounting Geometry: 4x M3 brass heat-set threaded inserts in cylindrical bosses at (5,5), (95,5), (95,75), (5,75) mm.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Interface Cutouts: Left wall USB-C port (9.6x3.6mm), battery harness hatch (8.5x7.0mm), front OLED window (26x15mm), acoustic port (dia 3.0mm).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Thermal Isolation Slot: 1.0 mm milled FR4 air gap slot (Edge.Cuts, X=72-73mm, Y=14-28mm) isolates SHT40/SGP40 from PCB heat.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Material Rationale: Flame-retardant PETG / UL94 V-0 ABS enclosure; optical polycarbonate light pipe with crosstalk baffles.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Validation Status: 3D CAD modeled in CATIA V5; structural FEA not performed (drop testing scheduled for Month 4).</a:t>
            </a:r>
            <a:endParaRPr/>
          </a:p>
        </p:txBody>
      </p:sp>
      <p:sp>
        <p:nvSpPr>
          <p:cNvPr id="231" name="Google Shape;231;p22"/>
          <p:cNvSpPr/>
          <p:nvPr/>
        </p:nvSpPr>
        <p:spPr>
          <a:xfrm>
            <a:off x="6245352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22"/>
          <p:cNvSpPr/>
          <p:nvPr/>
        </p:nvSpPr>
        <p:spPr>
          <a:xfrm>
            <a:off x="6245352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p22" title="MBF_Logo_2020.pn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Picture 235" descr="ExitIQ_Mechanical_Complete_Assembly_3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41217" y="1320000"/>
            <a:ext cx="3617565" cy="1950000"/>
          </a:xfrm>
          <a:prstGeom prst="rect">
            <a:avLst/>
          </a:prstGeom>
        </p:spPr>
      </p:pic>
      <p:sp>
        <p:nvSpPr>
          <p:cNvPr id="237" name="TextBox 236"/>
          <p:cNvSpPr txBox="1"/>
          <p:nvPr/>
        </p:nvSpPr>
        <p:spPr>
          <a:xfrm>
            <a:off x="6300000" y="3280000"/>
            <a:ext cx="5100000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Segoe UI"/>
              </a:defRPr>
            </a:pPr>
            <a:r>
              <a:t>CATIA V5 Assembly: 114 x 94 x 26 mm flame-retardant PETG enclosure with centered 55x8 mm optical slot.</a:t>
            </a:r>
          </a:p>
        </p:txBody>
      </p:sp>
      <p:pic>
        <p:nvPicPr>
          <p:cNvPr id="238" name="Picture 237" descr="ExitIQ_Mechanical_Lid_Hidden_3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41217" y="3650000"/>
            <a:ext cx="3617565" cy="1950000"/>
          </a:xfrm>
          <a:prstGeom prst="rect">
            <a:avLst/>
          </a:prstGeom>
        </p:spPr>
      </p:pic>
      <p:sp>
        <p:nvSpPr>
          <p:cNvPr id="239" name="TextBox 238"/>
          <p:cNvSpPr txBox="1"/>
          <p:nvPr/>
        </p:nvSpPr>
        <p:spPr>
          <a:xfrm>
            <a:off x="6300000" y="5610000"/>
            <a:ext cx="5100000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Segoe UI"/>
              </a:defRPr>
            </a:pPr>
            <a:r>
              <a:t>Internal Clearance: PCB seated on 4.5 mm standoffs with +2.4 mm top headroom and isolated sensor bay.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23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23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3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ECAD Engineering: Schematic Verification, Grounding &amp; Routing Schedule</a:t>
            </a: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731520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9 FUNCTIONAL BLOCKS &amp; VERIFICATION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Schematic Integrity: ExitIQ.kicad_sch contains 9 organized functional sheets. KiCad Electrical Rules Check (ERC) passed with 0 Errors, 0 Warnings (ExitIQ_ERC.rpt).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5V Ingress &amp; TVS Protection: USB-C input clamped with Littelfuse SMAJ5.0A TVS diode (400W peak) + 2.0A PTC resettable polyfuse.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Sensor Thermal Isolation: Dedicated physical slot in FR4 PCB (Edge.Cuts, 1.0mm wide) mechanically separates SHT40/SGP40 from MCU/boost regulator thermal dissipation.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Level Shifting &amp; LED Line Integrity: TI 74AHCT1G125 high-speed buffer translates 3.3V ESP32 GPIO to 5.0V WS2812B DIN; 330Ω damping resistor suppresses transmission reflections.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Ground Plane Design: Continuous solid B.Cu ground plane poured beneath all digital logic; power loops minimized.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PCB Completion Status: Schematic ERC 100% passed (0 Errors). PCB routing 100% complete (0 unrouted nets, 0 unconnected pads, 70 nets, 642 tracks) with solid B.Cu ground plane and verified DRC.</a:t>
            </a:r>
            <a:endParaRPr/>
          </a:p>
        </p:txBody>
      </p:sp>
      <p:sp>
        <p:nvSpPr>
          <p:cNvPr id="244" name="Google Shape;244;p23"/>
          <p:cNvSpPr/>
          <p:nvPr/>
        </p:nvSpPr>
        <p:spPr>
          <a:xfrm>
            <a:off x="6245352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itIQ_PCB_Top_3D.png" id="245" name="Google Shape;245;p2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000325" y="1320160"/>
            <a:ext cx="3702134" cy="2068840"/>
          </a:xfrm>
          <a:prstGeom prst="rect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6" name="Google Shape;246;p23"/>
          <p:cNvSpPr/>
          <p:nvPr/>
        </p:nvSpPr>
        <p:spPr>
          <a:xfrm>
            <a:off x="6245352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ExitIQ_PCB_Routed_Isometric_3D.png" id="247" name="Google Shape;247;p2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000325" y="3651880"/>
            <a:ext cx="3702134" cy="2068840"/>
          </a:xfrm>
          <a:prstGeom prst="rect">
            <a:avLst/>
          </a:prstGeom>
          <a:noFill/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8" name="TextBox 247"/>
          <p:cNvSpPr txBox="1"/>
          <p:nvPr/>
        </p:nvSpPr>
        <p:spPr>
          <a:xfrm>
            <a:off x="6300000" y="3280000"/>
            <a:ext cx="5100000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Segoe UI"/>
              </a:defRPr>
            </a:pPr>
            <a:r>
              <a:t>KiCad 10 3D Top View: 100 x 80 mm carrier board with ESP32-S3 DevKit, sensors, and 8x WS2812B array.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6300000" y="5610000"/>
            <a:ext cx="5100000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Segoe UI"/>
              </a:defRPr>
            </a:pPr>
            <a:r>
              <a:t>KiCad 10 3D Isometric View: 100% routed copper tracks (70 nets, 642 tracks) with unbroken ground plane.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2" name="Google Shape;252;p24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4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STAGE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Maker Journey: Hands-On Personal Fabrication &amp; Verification</a:t>
            </a:r>
            <a:endParaRPr/>
          </a:p>
        </p:txBody>
      </p:sp>
      <p:sp>
        <p:nvSpPr>
          <p:cNvPr id="254" name="Google Shape;254;p24"/>
          <p:cNvSpPr/>
          <p:nvPr/>
        </p:nvSpPr>
        <p:spPr>
          <a:xfrm>
            <a:off x="731520" y="1280160"/>
            <a:ext cx="5212080" cy="164592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PROOF OF PERSONAL FABRICATION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Student Engineering: Hands-on design of electrical schematics, custom PCB carrier layout, CATIA mechanical enclosure, and firmware architecture.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Authentic Provenance: Verified through progressive Git commit histories, raw ECAD schematic hierarchy, and laboratory test logs.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Faculty Mentorship: Guided by institutional faculty mentor in regular weekly engineering design reviews.</a:t>
            </a:r>
            <a:endParaRPr/>
          </a:p>
        </p:txBody>
      </p:sp>
      <p:sp>
        <p:nvSpPr>
          <p:cNvPr id="255" name="Google Shape;255;p24"/>
          <p:cNvSpPr/>
          <p:nvPr/>
        </p:nvSpPr>
        <p:spPr>
          <a:xfrm>
            <a:off x="731520" y="3017520"/>
            <a:ext cx="5212080" cy="14630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0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WORK-IN-PROGRESS SOFTWARE UI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CATIA V5 Active Workspace: Desktop captures show active Part Design parametric trees, pocket operations for sensor apertures, and boss screw-hole specifications.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KiCad 10 Nightly Environment: Interactive layout session displaying ratnest nets, design rule configuration, and DRC error audit panes.</a:t>
            </a:r>
            <a:endParaRPr/>
          </a:p>
        </p:txBody>
      </p:sp>
      <p:sp>
        <p:nvSpPr>
          <p:cNvPr id="256" name="Google Shape;256;p24"/>
          <p:cNvSpPr/>
          <p:nvPr/>
        </p:nvSpPr>
        <p:spPr>
          <a:xfrm>
            <a:off x="731520" y="4572000"/>
            <a:ext cx="5212080" cy="118872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E35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None/>
              <a:defRPr sz="1100" b="1">
                <a:solidFill>
                  <a:srgbClr val="0E1C36"/>
                </a:solidFill>
                <a:latin typeface="Segoe UI"/>
              </a:defRPr>
            </a:pPr>
            <a:r>
              <a:t>RAW REPOSITORY AUDIT LINKAGE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  <a:defRPr sz="900">
                <a:solidFill>
                  <a:srgbClr val="2D3748"/>
                </a:solidFill>
                <a:latin typeface="Segoe UI"/>
              </a:defRPr>
            </a:pPr>
            <a:r>
              <a:t>• Native Engineering Files: Contains native ExitIQ.kicad_sch, ExitIQ.kicad_pcb, CATProduct 3D CAD assemblies, BOM .csv, and ERC/DRC logs.</a:t>
            </a:r>
            <a:endParaRPr/>
          </a:p>
          <a:p>
            <a:pPr>
              <a:defRPr sz="950" b="1">
                <a:solidFill>
                  <a:srgbClr val="E3562A"/>
                </a:solidFill>
                <a:latin typeface="Segoe UI"/>
              </a:defRPr>
            </a:pPr>
            <a:r>
              <a:t>• Public GitHub Repository: https://github.com/Binita126/ExitIQ</a:t>
            </a:r>
          </a:p>
        </p:txBody>
      </p:sp>
      <p:sp>
        <p:nvSpPr>
          <p:cNvPr id="257" name="Google Shape;257;p24"/>
          <p:cNvSpPr/>
          <p:nvPr/>
        </p:nvSpPr>
        <p:spPr>
          <a:xfrm>
            <a:off x="6245352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/>
        </p:txBody>
      </p:sp>
      <p:sp>
        <p:nvSpPr>
          <p:cNvPr id="258" name="Google Shape;258;p24"/>
          <p:cNvSpPr/>
          <p:nvPr/>
        </p:nvSpPr>
        <p:spPr>
          <a:xfrm>
            <a:off x="6245352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0" name="Google Shape;260;p24" title="MBF_Logo_2020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Picture 260" descr="WhatsApp Image 2026-10-25 at 19.13.52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2512" y="1353312"/>
            <a:ext cx="854117" cy="9509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2" name="TextBox 261"/>
          <p:cNvSpPr txBox="1"/>
          <p:nvPr/>
        </p:nvSpPr>
        <p:spPr>
          <a:xfrm>
            <a:off x="7388352" y="1371600"/>
            <a:ext cx="140817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E1C36"/>
                </a:solidFill>
                <a:latin typeface="Quattrocento Sans"/>
              </a:defRPr>
            </a:pPr>
            <a:r>
              <a:t>Dev &amp; Interfacing</a:t>
            </a:r>
          </a:p>
          <a:p>
            <a:pPr>
              <a:defRPr sz="750">
                <a:solidFill>
                  <a:srgbClr val="2D3748"/>
                </a:solidFill>
                <a:latin typeface="Quattrocento Sans"/>
              </a:defRPr>
            </a:pPr>
            <a:r>
              <a:t>Sensor breadboard integration &amp; firmware flashing on laptop.</a:t>
            </a:r>
          </a:p>
        </p:txBody>
      </p:sp>
      <p:pic>
        <p:nvPicPr>
          <p:cNvPr id="263" name="Picture 262" descr="WhatsApp Image 2026-10-25 at 19.13.53.jpe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2512" y="2359152"/>
            <a:ext cx="953492" cy="9509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4" name="TextBox 263"/>
          <p:cNvSpPr txBox="1"/>
          <p:nvPr/>
        </p:nvSpPr>
        <p:spPr>
          <a:xfrm>
            <a:off x="7388352" y="2377440"/>
            <a:ext cx="1408176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E1C36"/>
                </a:solidFill>
                <a:latin typeface="Quattrocento Sans"/>
              </a:defRPr>
            </a:pPr>
            <a:r>
              <a:t>Circuit Assembly</a:t>
            </a:r>
          </a:p>
          <a:p>
            <a:pPr>
              <a:defRPr sz="750">
                <a:solidFill>
                  <a:srgbClr val="2D3748"/>
                </a:solidFill>
                <a:latin typeface="Quattrocento Sans"/>
              </a:defRPr>
            </a:pPr>
            <a:r>
              <a:t>Hands-on wiring of ESP32 and discrete power components.</a:t>
            </a:r>
          </a:p>
        </p:txBody>
      </p:sp>
      <p:pic>
        <p:nvPicPr>
          <p:cNvPr id="265" name="Picture 264" descr="WhatsApp Image 2026-10-25 at 19.13.54.jpe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87968" y="1353312"/>
            <a:ext cx="1177679" cy="9509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6" name="TextBox 265"/>
          <p:cNvSpPr txBox="1"/>
          <p:nvPr/>
        </p:nvSpPr>
        <p:spPr>
          <a:xfrm>
            <a:off x="10204704" y="1371600"/>
            <a:ext cx="114300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E1C36"/>
                </a:solidFill>
                <a:latin typeface="Quattrocento Sans"/>
              </a:defRPr>
            </a:pPr>
            <a:r>
              <a:t>Logic Verification</a:t>
            </a:r>
          </a:p>
          <a:p>
            <a:pPr>
              <a:defRPr sz="750">
                <a:solidFill>
                  <a:srgbClr val="2D3748"/>
                </a:solidFill>
                <a:latin typeface="Quattrocento Sans"/>
              </a:defRPr>
            </a:pPr>
            <a:r>
              <a:t>Telemetry testing and emergency threshold calibration.</a:t>
            </a:r>
          </a:p>
        </p:txBody>
      </p:sp>
      <p:pic>
        <p:nvPicPr>
          <p:cNvPr id="267" name="Picture 266" descr="WhatsApp Image 2026-10-25 at 19.13.55.jpe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7968" y="2359152"/>
            <a:ext cx="1267968" cy="950976"/>
          </a:xfrm>
          <a:prstGeom prst="rect">
            <a:avLst/>
          </a:prstGeom>
          <a:ln w="9525">
            <a:solidFill>
              <a:srgbClr val="CBD5E1"/>
            </a:solidFill>
          </a:ln>
        </p:spPr>
      </p:pic>
      <p:sp>
        <p:nvSpPr>
          <p:cNvPr id="268" name="TextBox 267"/>
          <p:cNvSpPr txBox="1"/>
          <p:nvPr/>
        </p:nvSpPr>
        <p:spPr>
          <a:xfrm>
            <a:off x="10204704" y="2377440"/>
            <a:ext cx="1143000" cy="9509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850" b="1">
                <a:solidFill>
                  <a:srgbClr val="0E1C36"/>
                </a:solidFill>
                <a:latin typeface="Quattrocento Sans"/>
              </a:defRPr>
            </a:pPr>
            <a:r>
              <a:t>Workbench Integration</a:t>
            </a:r>
          </a:p>
          <a:p>
            <a:pPr>
              <a:defRPr sz="750">
                <a:solidFill>
                  <a:srgbClr val="2D3748"/>
                </a:solidFill>
                <a:latin typeface="Quattrocento Sans"/>
              </a:defRPr>
            </a:pPr>
            <a:r>
              <a:t>Full hardware-firmware testing alongside CAD enclosure model.</a:t>
            </a:r>
          </a:p>
        </p:txBody>
      </p:sp>
      <p:pic>
        <p:nvPicPr>
          <p:cNvPr id="269" name="Picture 268" descr="03_CATIA_Part_FeatureTree_Ful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90426" y="3650000"/>
            <a:ext cx="3319148" cy="1950000"/>
          </a:xfrm>
          <a:prstGeom prst="rect">
            <a:avLst/>
          </a:prstGeom>
        </p:spPr>
      </p:pic>
      <p:sp>
        <p:nvSpPr>
          <p:cNvPr id="270" name="TextBox 269"/>
          <p:cNvSpPr txBox="1"/>
          <p:nvPr/>
        </p:nvSpPr>
        <p:spPr>
          <a:xfrm>
            <a:off x="6300000" y="5610000"/>
            <a:ext cx="5100000" cy="28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>
              <a:defRPr sz="850">
                <a:solidFill>
                  <a:srgbClr val="718096"/>
                </a:solidFill>
                <a:latin typeface="Segoe UI"/>
              </a:defRPr>
            </a:pPr>
            <a:r>
              <a:t>Active Engineering Software UI: CATIA V5 Part Design parametric tree detailing enclosure features.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5" name="Google Shape;265;p25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6" name="Google Shape;266;p25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5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	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Benchmarking ExitIQ Against Commercial Products &amp; Academic Research</a:t>
            </a:r>
            <a:endParaRPr/>
          </a:p>
        </p:txBody>
      </p:sp>
      <p:graphicFrame>
        <p:nvGraphicFramePr>
          <p:cNvPr id="268" name="Google Shape;268;p25"/>
          <p:cNvGraphicFramePr/>
          <p:nvPr/>
        </p:nvGraphicFramePr>
        <p:xfrm>
          <a:off x="73152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{BCFA05A9-EAEE-45B8-AC17-15F84AF8BC95}</a:tableStyleId>
              </a:tblPr>
              <a:tblGrid>
                <a:gridCol w="2286000"/>
                <a:gridCol w="1645925"/>
                <a:gridCol w="1737350"/>
                <a:gridCol w="1645925"/>
                <a:gridCol w="1737350"/>
                <a:gridCol w="1673350"/>
              </a:tblGrid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Key Evaluation Dimension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Conventional Exit Sign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Honeywell NOTIFIER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Eaton FlexiTech / Ex-Lite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Academic Literature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ExitIQ (Proposed System)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Fire &amp; Hazard Detection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None (Signage only)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(Certified smoke/heat)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None (Emergency sign only)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(Selected studies)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(SHT40 Temp + SGP40 VOC)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Dynamic Directional Guidance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 (Fixed permanent legend)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Voice alerts (Fixed arrows)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 (Fixed pictogram)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(Adaptive signage)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(8x WS2812B running LEDs)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Zone-by-Zone Risk Assessment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(Panel supervisory zones)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(Sensor-graph models)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(4-state machine + TinyML)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Real-Time Route Recalculation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Manual dispatcher override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BE282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No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(Dijkstra / A* algorithms)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(On-node Dijkstra pathfinder)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Autonomous Offline Operation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(Passive display)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Requires central panel loop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(Standalone sign)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Varies by paper architecture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(100% local-first mesh)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Battery-Backed Emergency Power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Model-dependent backup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Central system UPS backup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(LiFePO4 battery)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Varies by prototype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Yes (TI DPPM, 6.6h runtime)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4972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Development &amp; Testing 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Mature commercial product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Mature commercial product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Mature commercial product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Published research papers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28B2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&amp; verified in CAD/ERC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69" name="Google Shape;269;p25"/>
          <p:cNvSpPr/>
          <p:nvPr/>
        </p:nvSpPr>
        <p:spPr>
          <a:xfrm>
            <a:off x="731520" y="5303520"/>
            <a:ext cx="10725912" cy="822960"/>
          </a:xfrm>
          <a:prstGeom prst="roundRect">
            <a:avLst>
              <a:gd fmla="val 16667" name="adj"/>
            </a:avLst>
          </a:prstGeom>
          <a:solidFill>
            <a:srgbClr val="EFF6FF"/>
          </a:solidFill>
          <a:ln cap="flat" cmpd="sng" w="12700">
            <a:solidFill>
              <a:srgbClr val="107C8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CORE BENCHMARK FINDING: THE LOCAL-FIRST INTEGRATION ADVANTAGE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Commercial Gap: Commercial systems offer rugged hardware and certified alarms but lack dynamic arrow redirection.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Academic Gap: Research papers demonstrate dynamic routing in simulation but rely on complex central servers and rarely integrate battery-backed hardware.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ExitIQ Contribution: Integrates adaptive directional guidance, local sensor fusion, and brownout-free battery power into an affordable (₹3,585) decentralized node.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6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6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6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Innovation Advantage: What Is Solved vs. ExitIQ's Contribution</a:t>
            </a:r>
            <a:endParaRPr/>
          </a:p>
        </p:txBody>
      </p:sp>
      <p:sp>
        <p:nvSpPr>
          <p:cNvPr id="277" name="Google Shape;277;p26"/>
          <p:cNvSpPr/>
          <p:nvPr/>
        </p:nvSpPr>
        <p:spPr>
          <a:xfrm>
            <a:off x="731520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FOUNDATIONAL LITERATURE INSIGHTS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What Has Already Been Solved in Safety Research: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Dynamic Routing Exists: Algorithms (Dijkstra, A*, PSO) can recalculate egress paths as environmental hazards shift (Fire Safety Journal 2015; Building &amp; Environment 2020).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Adaptive Visuals Work: Human participant studies confirm occupants follow dynamic directional arrows (89% compliance demonstrated in 2020 complex building evacuation trial).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Battery Signs Are Mature: Commercial products (Eaton FlexiTech/Ex-Lite) prove 90-180 minute reliable battery backup operation in rugged industrial enclosures.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The Unaddressed Implementation Gap: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Literature proves algorithms in simulation; commercial products provide reliable power without dynamic intelligence. No low-cost, decentralized terminal bridges this divide for typical manufacturing plants.</a:t>
            </a:r>
            <a:endParaRPr/>
          </a:p>
        </p:txBody>
      </p:sp>
      <p:sp>
        <p:nvSpPr>
          <p:cNvPr id="278" name="Google Shape;278;p26"/>
          <p:cNvSpPr/>
          <p:nvPr/>
        </p:nvSpPr>
        <p:spPr>
          <a:xfrm>
            <a:off x="6245352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EXITIQ'S TANGIBLE CONTRIBUTION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 Tangible Demonstrations Engineered by Our Team: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1. Corridor Threat Detection: Sensirion SHT40 + SGP40 dual sensor bay detects pyrolysis gases and thermal spikes; ESP32-S3 transitions zone to HIGH RISK (&lt;500ms target).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2. Real-Time Redirection: On-node pathfinder recalculates safest route and flips WS2812B green LED running arrows to alternate safe exit (&lt;100ms target).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3. Mains Disconnect Continuity: TI BQ24074 DPPM switches from 5V USB-C to 18650 Li-Ion cell in &lt;100ns without brownout dip, sustaining guidance for 6.6 hours.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4. Local Comms Fallback: If central network links sever, node executes deterministic autonomous fallback rules with local fault annunciation.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Outcome: A low-cost, local-first safety terminal that bridges the gap between commercial alarm systems and theoretical research.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3" name="Google Shape;283;p27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STAGE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Safety by Design: Multi-Tiered Fail-Safes &amp; Design FMEA Matrix</a:t>
            </a:r>
            <a:endParaRPr/>
          </a:p>
        </p:txBody>
      </p:sp>
      <p:graphicFrame>
        <p:nvGraphicFramePr>
          <p:cNvPr id="285" name="Google Shape;285;p27"/>
          <p:cNvGraphicFramePr/>
          <p:nvPr/>
        </p:nvGraphicFramePr>
        <p:xfrm>
          <a:off x="731520" y="12344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{BCFA05A9-EAEE-45B8-AC17-15F84AF8BC95}</a:tableStyleId>
              </a:tblPr>
              <a:tblGrid>
                <a:gridCol w="2103125"/>
                <a:gridCol w="3108950"/>
                <a:gridCol w="3959350"/>
                <a:gridCol w="1554475"/>
              </a:tblGrid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Potential Failure Mode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Operational Hazard &amp; Severity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 Mitigation &amp; Hardware Fail-Safe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50" u="none" cap="none" strike="noStrike">
                          <a:solidFill>
                            <a:srgbClr val="FFFFFF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Implementation Status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0E1C36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Mains 5V Power Loss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Controller reset, loss of guidance, darkness and panic in corridors during emergency.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TI BQ24074 DPPM switches to 18650 cell in &lt;100ns (zero brownout dip); supplies guidance for 6.6 hours.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07C8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in ECAD (Verified in datasheet)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Sensor Failure / Drift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Stale or false low-risk reading directing fleeing occupants toward an advancing fire front.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Firmware I2C watchdog; unreadable zone immediately marked as HIGH RISK; defaults to deterministic safe rule.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07C8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in Firmware Architecture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Firmware / Routing Lockup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Frozen directional arrows displaying outdated or unsafe paths during critical evacuation.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ESP32-S3 hardware Watchdog Timer (WDT) triggers hard reset within 1.0s; falls back to static lookup table.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07C8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in Firmware Architecture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LED Indicator Array Fault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Loss of primary visual arrow indicators at critical corridor junction point.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Triple redundancy: SSD1306 OLED displays text; CUI CMT-8540S buzzer pulses audible directional alert.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07C8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in Hardware (ERC passed)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8FAFC"/>
                    </a:solidFill>
                  </a:tcPr>
                </a:tc>
              </a:tr>
              <a:tr h="59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Route Blocked After Calc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Occupants routed into corridor where fire just breached after recalculation.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800" u="none" cap="none" strike="noStrike">
                          <a:solidFill>
                            <a:srgbClr val="2D3748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FreeRTOS task loops every 500ms; continuous sensor checks recalculate route dynamically.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800" u="none" cap="none" strike="noStrike">
                          <a:solidFill>
                            <a:srgbClr val="107C82"/>
                          </a:solidFill>
                          <a:latin typeface="Quattrocento Sans"/>
                          <a:ea typeface="Quattrocento Sans"/>
                          <a:cs typeface="Quattrocento Sans"/>
                          <a:sym typeface="Quattrocento Sans"/>
                        </a:rPr>
                        <a:t>Designed in Firmware Architecture</a:t>
                      </a:r>
                      <a:endParaRPr/>
                    </a:p>
                  </a:txBody>
                  <a:tcPr marT="45725" marB="45725" marR="91450" marL="9145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6" name="Google Shape;286;p27"/>
          <p:cNvSpPr/>
          <p:nvPr/>
        </p:nvSpPr>
        <p:spPr>
          <a:xfrm>
            <a:off x="731520" y="4892040"/>
            <a:ext cx="10725912" cy="1280160"/>
          </a:xfrm>
          <a:prstGeom prst="roundRect">
            <a:avLst>
              <a:gd fmla="val 16667" name="adj"/>
            </a:avLst>
          </a:prstGeom>
          <a:solidFill>
            <a:srgbClr val="FEF2F2"/>
          </a:solidFill>
          <a:ln cap="flat" cmpd="sng" w="12700">
            <a:solidFill>
              <a:srgbClr val="BE282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0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REGULATORY SAFETY DEMARCATION &amp; OPERATIONAL BOUNDARIES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Supplementary Guidance Only: ExitIQ is an experimental research prototype engineered to provide adaptive guidance; it does NOT replace certified building fire alarm systems (EN 54 / NFPA 72) or statutory emergency lighting.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Sensor Demarcation: The Sensirion SGP40 is an MOx-based VOC air quality index sensor, NOT a certified smoke detector.</a:t>
            </a:r>
            <a:b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Standards Grounding: Battery endurance meets NFPA 101 (&gt;90 min emergency runtime benchmark: 6.6h calculated); PCB adheres to IPC-2221A Class 2 clearances.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8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2" name="Google Shape;292;p28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28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r>
              <a:rPr b="1" lang="en-US" sz="900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Four-Month Prototype Implementation Roadmap</a:t>
            </a:r>
            <a:endParaRPr/>
          </a:p>
        </p:txBody>
      </p:sp>
      <p:sp>
        <p:nvSpPr>
          <p:cNvPr id="294" name="Google Shape;294;p28"/>
          <p:cNvSpPr/>
          <p:nvPr/>
        </p:nvSpPr>
        <p:spPr>
          <a:xfrm>
            <a:off x="731520" y="1280160"/>
            <a:ext cx="2542032" cy="3291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1 (OCT 2026)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ECAD &amp; MCAD SIGN-OFF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Complete KiCad push-and-shove routing schedule.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Re-run full DRC (0 unrouted nets).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Export production Gerber and drill package.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3D print initial PETG enclosure prototype.</a:t>
            </a:r>
            <a:endParaRPr/>
          </a:p>
        </p:txBody>
      </p:sp>
      <p:sp>
        <p:nvSpPr>
          <p:cNvPr id="295" name="Google Shape;295;p28"/>
          <p:cNvSpPr/>
          <p:nvPr/>
        </p:nvSpPr>
        <p:spPr>
          <a:xfrm>
            <a:off x="3456432" y="1280160"/>
            <a:ext cx="2542032" cy="3291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2 (NOV 2026)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FABRICATION &amp; SMT ASSEMBLY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Fabricate 2-layer FR4 PCB at domestic fab house.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Component arrival &amp; SMT hand-soldering.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Benchtop power-path switchover test under 1.5A load.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Verify I2C sensor communications &amp; LED drivers.</a:t>
            </a:r>
            <a:endParaRPr/>
          </a:p>
        </p:txBody>
      </p:sp>
      <p:sp>
        <p:nvSpPr>
          <p:cNvPr id="296" name="Google Shape;296;p28"/>
          <p:cNvSpPr/>
          <p:nvPr/>
        </p:nvSpPr>
        <p:spPr>
          <a:xfrm>
            <a:off x="6181344" y="1280160"/>
            <a:ext cx="2542032" cy="3291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3 (DEC 2026)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FIRMWARE &amp; TINYML INTEGRATION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Implement ESP32-S3 FreeRTOS firmware.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Build dual-sensor calibration &amp; fusion pipeline.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Train lightweight TinyML classifier on safe data.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Integrate Dijkstra graph route engine.</a:t>
            </a:r>
            <a:endParaRPr/>
          </a:p>
        </p:txBody>
      </p:sp>
      <p:sp>
        <p:nvSpPr>
          <p:cNvPr id="297" name="Google Shape;297;p28"/>
          <p:cNvSpPr/>
          <p:nvPr/>
        </p:nvSpPr>
        <p:spPr>
          <a:xfrm>
            <a:off x="8906256" y="1280160"/>
            <a:ext cx="2542032" cy="3291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MONTH 4 (JAN 2027)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MULTI-ZONE STAGE 3 DEMO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Construct 3–5 zone miniature floor plan board.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Execute simulated fire emergency scenarios.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Benchmark detection latency &amp; battery endurance.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Present live functional demo for Stage 3 jury.</a:t>
            </a:r>
            <a:endParaRPr/>
          </a:p>
        </p:txBody>
      </p:sp>
      <p:sp>
        <p:nvSpPr>
          <p:cNvPr id="298" name="Google Shape;298;p28"/>
          <p:cNvSpPr/>
          <p:nvPr/>
        </p:nvSpPr>
        <p:spPr>
          <a:xfrm>
            <a:off x="731520" y="4754880"/>
            <a:ext cx="10725912" cy="1188720"/>
          </a:xfrm>
          <a:prstGeom prst="roundRect">
            <a:avLst>
              <a:gd fmla="val 16667" name="adj"/>
            </a:avLst>
          </a:prstGeom>
          <a:solidFill>
            <a:srgbClr val="F0FDF4"/>
          </a:solidFill>
          <a:ln cap="flat" cmpd="sng" w="12700">
            <a:solidFill>
              <a:srgbClr val="228B22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74300" spcFirstLastPara="1" rIns="274300" wrap="square" tIns="1097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PROTOTYPE VALIDATION TARGETS (TO BE BENCHMARKED IN STAGE 3 TRIAL)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Hazard Detection Latency: Target &lt; 500 ms from safe test stimulus to risk classification.</a:t>
            </a:r>
            <a:b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Route Recalculation Time: Target &lt; 100 ms on ESP32-S3 internal core.</a:t>
            </a:r>
            <a:b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Emergency Battery Runtime: Target &gt; 6.0 hours (calculated: 6.6 hours @ 460mA load on 3400mAh cell).</a:t>
            </a:r>
            <a:b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</a:br>
            <a:r>
              <a:rPr b="0" i="0" lang="en-US" sz="9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Route Safety Success Rate: Target 100% avoidance of simulated high-risk zones across all repeatable test runs.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29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4" name="Google Shape;304;p29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9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Engineering Bottlenecks: Critical Design Constraints Analyzed</a:t>
            </a:r>
            <a:endParaRPr/>
          </a:p>
        </p:txBody>
      </p:sp>
      <p:sp>
        <p:nvSpPr>
          <p:cNvPr id="306" name="Google Shape;306;p29"/>
          <p:cNvSpPr/>
          <p:nvPr/>
        </p:nvSpPr>
        <p:spPr>
          <a:xfrm>
            <a:off x="731520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BE282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DYNAMIC CURRENT SPIKES &amp; BROWNOUT RISK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WS2812B LEDs draw up to 480mA during full strobe; ESP32-S3 draws 355mA during Wi-Fi bursts.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Combined current spikes exceed 800mA, creating steep dynamic load steps.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Without dedicated power-path isolation, voltage sag causes ESP32 brownout reset loops.</a:t>
            </a:r>
            <a:endParaRPr/>
          </a:p>
        </p:txBody>
      </p:sp>
      <p:sp>
        <p:nvSpPr>
          <p:cNvPr id="307" name="Google Shape;307;p29"/>
          <p:cNvSpPr/>
          <p:nvPr/>
        </p:nvSpPr>
        <p:spPr>
          <a:xfrm>
            <a:off x="6245352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SENSOR THERMAL COUPLING &amp; FALSE ALARMS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ESP32-S3 and TPS61023 boost regulator dissipate heat locally on the carrier PCB.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Direct thermal conduction through FR4 copper planes artificially elevates SHT40 readings by +3°C to +6°C.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Thermal drift skews SGP40 baseline, generating false VOC fire alerts.</a:t>
            </a:r>
            <a:endParaRPr/>
          </a:p>
        </p:txBody>
      </p:sp>
      <p:sp>
        <p:nvSpPr>
          <p:cNvPr id="308" name="Google Shape;308;p29"/>
          <p:cNvSpPr/>
          <p:nvPr/>
        </p:nvSpPr>
        <p:spPr>
          <a:xfrm>
            <a:off x="731520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SIGNAL INTEGRITY &amp; GROUND IMPEDANCE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High net density (70 nets, 642 tracks) risked ground return loop discontinuities and EMI.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High-frequency digital signals (400kHz I2C, 800kHz WS2812B DIN) require low-impedance ground returns.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Poor ground routing risks crosstalk, bit corruption, and unintended RF emissions.</a:t>
            </a:r>
            <a:endParaRPr/>
          </a:p>
        </p:txBody>
      </p:sp>
      <p:sp>
        <p:nvSpPr>
          <p:cNvPr id="309" name="Google Shape;309;p29"/>
          <p:cNvSpPr/>
          <p:nvPr/>
        </p:nvSpPr>
        <p:spPr>
          <a:xfrm>
            <a:off x="6245352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EDGE AI RESOURCE CONSTRAINTS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Complex deep learning fire models cannot run reliably on resource-constrained microcontrollers.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Real-time route calculation must execute deterministically without blocking FreeRTOS sensor loops.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Cloud-based AI inference fails completely if building internet infrastructure collapses.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30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30"/>
          <p:cNvSpPr txBox="1"/>
          <p:nvPr/>
        </p:nvSpPr>
        <p:spPr>
          <a:xfrm>
            <a:off x="731520" y="365760"/>
            <a:ext cx="9327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 b="1" sz="900">
              <a:solidFill>
                <a:srgbClr val="E356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Verified Engineering Mitigations: Rigorous Technical Solutions</a:t>
            </a:r>
            <a:endParaRPr/>
          </a:p>
        </p:txBody>
      </p:sp>
      <p:sp>
        <p:nvSpPr>
          <p:cNvPr id="316" name="Google Shape;316;p30"/>
          <p:cNvSpPr/>
          <p:nvPr/>
        </p:nvSpPr>
        <p:spPr>
          <a:xfrm>
            <a:off x="731520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228B2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1. DYNAMIC POWER-PATH &amp; BOOST REGULATION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Integrated TI BQ24074 DPPM to autonomously manage input current limits.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Paired with TI TPS61023 synchronous boost converter delivering up to 3.7A valley switch current.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Bulk decoupling capacitors (100µF electrolytic + 22µF ceramic) absorb transient current steps.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Ensures uninterrupted &lt;100ns brownout-free battery switchover during total mains blackout.</a:t>
            </a:r>
            <a:endParaRPr/>
          </a:p>
        </p:txBody>
      </p:sp>
      <p:sp>
        <p:nvSpPr>
          <p:cNvPr id="317" name="Google Shape;317;p30"/>
          <p:cNvSpPr/>
          <p:nvPr/>
        </p:nvSpPr>
        <p:spPr>
          <a:xfrm>
            <a:off x="6245352" y="128016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2. PHYSICAL PCB THERMAL ISOLATION SLOT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Milled a 1.0mm physical air gap slot through FR4 (Edge.Cuts, X=72-73mm, Y=14-28mm).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Mechanically severs copper heat conduction between MCU/regulator and the sensor bay.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Airflow louvers in the CATIA enclosure provide passive convection to sample true ambient air.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Maintains Sensirion SHT40 temperature measurement accuracy within ±0.2°C.</a:t>
            </a:r>
            <a:endParaRPr/>
          </a:p>
        </p:txBody>
      </p:sp>
      <p:sp>
        <p:nvSpPr>
          <p:cNvPr id="318" name="Google Shape;318;p30"/>
          <p:cNvSpPr/>
          <p:nvPr/>
        </p:nvSpPr>
        <p:spPr>
          <a:xfrm>
            <a:off x="731520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3. LOW-IMPEDANCE GROUND RETURN &amp; ROUTING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Poured a solid, low-impedance ground return plane on B.Cu beneath all digital signal traces.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Placed a TI 74AHCT1G125 high-speed buffer near ESP32 GPIO to level-shift 3.3V to 5.0V with a 330Ω damping resistor.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Completed 100% interactive push-and-shove routing with 0 unrouted nets, 0 shorts, and continuous ground return.</a:t>
            </a:r>
            <a:endParaRPr/>
          </a:p>
        </p:txBody>
      </p:sp>
      <p:sp>
        <p:nvSpPr>
          <p:cNvPr id="319" name="Google Shape;319;p30"/>
          <p:cNvSpPr/>
          <p:nvPr/>
        </p:nvSpPr>
        <p:spPr>
          <a:xfrm>
            <a:off x="6245352" y="3611880"/>
            <a:ext cx="5212080" cy="214884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82875" spcFirstLastPara="1" rIns="182875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4. LIGHTWEIGHT QUANTIZED MODEL &amp; RULES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Designed compact decision tree / quantized TinyML model running in &lt;32KB SRAM.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FreeRTOS timer enforces deterministic 500ms sensor fusion and &lt;100ms Dijkstra route recalculation.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100% on-device edge computation operates flawlessly without external internet or cloud reliance.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31" title="MBF_Logo_2020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5194" y="6280800"/>
            <a:ext cx="1096806" cy="57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31" title="VK colored transparent logo.png"/>
          <p:cNvPicPr preferRelativeResize="0"/>
          <p:nvPr/>
        </p:nvPicPr>
        <p:blipFill rotWithShape="1">
          <a:blip r:embed="rId4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1"/>
          <p:cNvSpPr txBox="1"/>
          <p:nvPr/>
        </p:nvSpPr>
        <p:spPr>
          <a:xfrm>
            <a:off x="731520" y="365760"/>
            <a:ext cx="9327000" cy="47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</a:t>
            </a: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ndustrial Impact, Scalability &amp; Technology Horizons</a:t>
            </a:r>
            <a:endParaRPr/>
          </a:p>
        </p:txBody>
      </p:sp>
      <p:sp>
        <p:nvSpPr>
          <p:cNvPr id="327" name="Google Shape;327;p31"/>
          <p:cNvSpPr/>
          <p:nvPr/>
        </p:nvSpPr>
        <p:spPr>
          <a:xfrm>
            <a:off x="731520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IMMEDIATE INDUSTRIAL IMPACT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Panic Reduction: Eliminates lethal corridor hesitation by providing unambiguous, active green arrow strobes away from danger.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Preventing Bottlenecks: Dynamic multi-path routing prevents crowd congestion at single primary exits, distributing flow across all safe doors.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Cost-Effective Retrofit: Affordable ₹3,585 INR unit cost allows industrial plants to deploy dense node grids alongside existing certified fire systems.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True Offline Autonomy: Operates reliably through total facility blackouts and internet loss, protecting workers when central building networks fail.</a:t>
            </a:r>
            <a:endParaRPr/>
          </a:p>
        </p:txBody>
      </p:sp>
      <p:sp>
        <p:nvSpPr>
          <p:cNvPr id="328" name="Google Shape;328;p31"/>
          <p:cNvSpPr/>
          <p:nvPr/>
        </p:nvSpPr>
        <p:spPr>
          <a:xfrm>
            <a:off x="6245352" y="1280160"/>
            <a:ext cx="5212080" cy="44805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228600" spcFirstLastPara="1" rIns="228600" wrap="square" tIns="2286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SCALABILITY &amp; HORIZONS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Mesh Network Expansion: Scale from single-node prototypes to multi-hop 50+ node industrial meshes using ESP-NOW and Sub-GHz RF.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AI Computer Vision Module: Integrate low-cost ESP32-CAM nodes for optical flame recognition, crowd density tracking, and blocked path detection.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Digital Twin Integration: Stream real-time zone risk vectors to facility BIM digital twins and central emergency monitoring dashboards.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85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Worker Wearable Integration: Broadcast BLE localized hazard vectors to industrial smart watches and badges for tactile vibration alerts.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 title="VK colored transparent logo.png"/>
          <p:cNvPicPr preferRelativeResize="0"/>
          <p:nvPr/>
        </p:nvPicPr>
        <p:blipFill rotWithShape="1">
          <a:blip r:embed="rId3">
            <a:alphaModFix/>
          </a:blip>
          <a:srcRect b="44466" l="14673" r="15820" t="33074"/>
          <a:stretch/>
        </p:blipFill>
        <p:spPr>
          <a:xfrm>
            <a:off x="0" y="6280800"/>
            <a:ext cx="1786280" cy="5772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 txBox="1"/>
          <p:nvPr/>
        </p:nvSpPr>
        <p:spPr>
          <a:xfrm>
            <a:off x="731520" y="365760"/>
            <a:ext cx="93268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• VISHWAKARMA AWARDS STAGE 2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</a:pPr>
            <a:r>
              <a:rPr b="1" i="0" lang="en-US" sz="200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Technical References, Regulatory Standards &amp; Master Conclusion</a:t>
            </a:r>
            <a:endParaRPr/>
          </a:p>
        </p:txBody>
      </p:sp>
      <p:sp>
        <p:nvSpPr>
          <p:cNvPr id="335" name="Google Shape;335;p32"/>
          <p:cNvSpPr/>
          <p:nvPr/>
        </p:nvSpPr>
        <p:spPr>
          <a:xfrm>
            <a:off x="731520" y="128016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COMPONENT DATASHEETS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Espressif Systems: ESP32-S3 Series Datasheet v1.6 &amp; Hardware Design Guidelines (2025).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Texas Instruments: BQ24074 1.5A Dynamic Power-Path Li-Ion Charger (SLUS810M).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Texas Instruments: TPS61023 Synchronous Boost Converter Datasheet (SLVSEJ3).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Sensirion AG: SHT4x Digital Temp/RH &amp; SGP40 Digital MOx VOC Sensor Interfaces.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Worldsemi: WS2812B Intelligent Control LED Integrated Light Source Specification.</a:t>
            </a:r>
            <a:endParaRPr/>
          </a:p>
        </p:txBody>
      </p:sp>
      <p:sp>
        <p:nvSpPr>
          <p:cNvPr id="336" name="Google Shape;336;p32"/>
          <p:cNvSpPr/>
          <p:nvPr/>
        </p:nvSpPr>
        <p:spPr>
          <a:xfrm>
            <a:off x="4379976" y="128016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107C82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ACADEMIC LITERATURE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'Testing a real-time intelligent evacuation guiding system for complex buildings' — Building and Environment, Vol. 174, 2020.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'Integrating sensing, routing and timing for indoor evacuation' — Fire Safety Journal, Vol. 78, 2015.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'Fire evacuation supported by centralized and decentralized visual guidance systems' — Safety Science, Vol. 147, 2022.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'Real-time evacuation route selection methodology for complex buildings' — ScienceDirect, 2017.</a:t>
            </a:r>
            <a:endParaRPr/>
          </a:p>
        </p:txBody>
      </p:sp>
      <p:sp>
        <p:nvSpPr>
          <p:cNvPr id="337" name="Google Shape;337;p32"/>
          <p:cNvSpPr/>
          <p:nvPr/>
        </p:nvSpPr>
        <p:spPr>
          <a:xfrm>
            <a:off x="8028432" y="1280160"/>
            <a:ext cx="3429000" cy="3108960"/>
          </a:xfrm>
          <a:prstGeom prst="roundRect">
            <a:avLst>
              <a:gd fmla="val 16667" name="adj"/>
            </a:avLst>
          </a:prstGeom>
          <a:solidFill>
            <a:srgbClr val="F8FAFC"/>
          </a:solidFill>
          <a:ln cap="flat" cmpd="sng" w="127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164575" spcFirstLastPara="1" rIns="164575" wrap="square" tIns="164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0E1C36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REGULATORY STANDARDS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NFPA 101: Life Safety Code (Emergency Egress Lighting Standards: &gt;90 min runtime).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UL 924: Standard for Emergency Lighting and Power Equipment.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IEC 62368-1: Audio/video, information and communication technology equipment safety.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IPC-2221A: Generic Standard on Printed Board Design (Class 2 clearances).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b="0" i="0" lang="en-US" sz="800" u="none" cap="none" strike="noStrike">
                <a:solidFill>
                  <a:srgbClr val="2D3748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• ISO 7010: Graphical symbols — Safety colors and safety signs.</a:t>
            </a:r>
            <a:endParaRPr/>
          </a:p>
        </p:txBody>
      </p:sp>
      <p:sp>
        <p:nvSpPr>
          <p:cNvPr id="338" name="Google Shape;338;p32"/>
          <p:cNvSpPr/>
          <p:nvPr/>
        </p:nvSpPr>
        <p:spPr>
          <a:xfrm>
            <a:off x="731520" y="4572000"/>
            <a:ext cx="10725912" cy="1371600"/>
          </a:xfrm>
          <a:prstGeom prst="roundRect">
            <a:avLst>
              <a:gd fmla="val 16667" name="adj"/>
            </a:avLst>
          </a:prstGeom>
          <a:solidFill>
            <a:srgbClr val="0E1C36"/>
          </a:solidFill>
          <a:ln cap="flat" cmpd="sng" w="12700">
            <a:solidFill>
              <a:srgbClr val="E3562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365750" spcFirstLastPara="1" rIns="365750" wrap="square" tIns="1828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00" u="none" cap="none" strike="noStrike">
                <a:solidFill>
                  <a:srgbClr val="E356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"WHEN DANGER CHANGES, THE SAFEST WAY OUT MUST CHANGE WITH IT."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ExitIQ bridges the critical gap between detection and survival — delivering an adaptive, battery-backed, and local-first emergency guidance grid to protect industrial workers when conventional systems fail.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7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defRPr sz="2000" b="1">
                <a:solidFill>
                  <a:srgbClr val="0E1C36"/>
                </a:solidFill>
                <a:latin typeface="Segoe UI"/>
              </a:defRPr>
            </a:pPr>
            <a:r>
              <a:t>Mechanical Design Evidence: CATIA Feature Trees &amp; Optical Clearances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0800"/>
            <a:ext cx="1786280" cy="57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98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CATIA_Assembly_FeatureTre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7560" y="1040000"/>
            <a:ext cx="3200000" cy="18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1520" y="294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CATIA V5 Assembly Product Tree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Parametric constraint hierarchy linking enclosure base, release-candidate lid, standoffs, and 20 component solid models.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98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2_CATIA_Part_FeatureTre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392" y="1040000"/>
            <a:ext cx="3200000" cy="18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5352" y="294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Enclosure Base Parametric Part Tree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Part Design feature tree detailing pocket operations, concentric M3 standoff bosses, and port clearance cutouts.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0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ExitIQ_LED_RC_Alignment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93708" y="3660000"/>
            <a:ext cx="3487704" cy="188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520" y="556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Optical Window Alignment Verification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Semi-transparent lid verification proving centered 55 x 8 mm aperture directly over all 8 WS2812B LEDs with 1.55 mm uniform side margins.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60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13_ExitIQ_Mesh analysi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51392" y="3660000"/>
            <a:ext cx="3200000" cy="188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5352" y="556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Spatial Geometry &amp; Mesh Analysis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Solid finite element discretization and dimensional mesh analysis verifying boundary wall tolerances (2.5 mm nominal).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9327000" cy="5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50" b="1">
                <a:solidFill>
                  <a:srgbClr val="E3562A"/>
                </a:solidFill>
                <a:latin typeface="Segoe UI"/>
              </a:defRPr>
            </a:pPr>
            <a:r>
              <a:t>EXITIQ • VISHWAKARMA AWARDS STAGE 2</a:t>
            </a:r>
          </a:p>
          <a:p>
            <a:pPr>
              <a:defRPr sz="2000" b="1">
                <a:solidFill>
                  <a:srgbClr val="0E1C36"/>
                </a:solidFill>
                <a:latin typeface="Segoe UI"/>
              </a:defRPr>
            </a:pPr>
            <a:r>
              <a:t>Circuit Schematic &amp; PCB Evidence: KiCad Hierarchy, Routing &amp; DRC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80800"/>
            <a:ext cx="1786280" cy="5772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95194" y="6280800"/>
            <a:ext cx="1096806" cy="5772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31520" y="98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itIQ Complete PCB Circuit Schemati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7560" y="1040000"/>
            <a:ext cx="2820000" cy="1880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31520" y="294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KiCad 10 Master Hierarchical Schematic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Complete 9-block electrical architecture: USB-C TVS ingress, BQ24074 power-path, TPS61023 boost, ESP32-S3 MCU, and sensor bay.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98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8_KiCad_PCB_Layou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51392" y="1040000"/>
            <a:ext cx="3200000" cy="18800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45352" y="294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2-Layer PCB Layout &amp; Signal Routing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Dense 2-layer routing schedule across 70 nets and 642 copper tracks with FR4 physical thermal air gap slot separating sensors.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60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0_KiCaD_PCB_DRCRulesCheck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37560" y="3660000"/>
            <a:ext cx="3200000" cy="188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31520" y="556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KiCad Design Rules Check (DRC) Verification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Automated KiCad 10 DRC verification confirming 0 unconnected pads, 0 short circuits, and 100% electrical routing completion.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45352" y="3600000"/>
            <a:ext cx="5212080" cy="252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ExitIQ_PCB_Bottom_3D_rout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69287" y="3660000"/>
            <a:ext cx="3364210" cy="188000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45352" y="5560000"/>
            <a:ext cx="5012080" cy="50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00" b="1">
                <a:solidFill>
                  <a:srgbClr val="0E1C36"/>
                </a:solidFill>
                <a:latin typeface="Segoe UI"/>
              </a:defRPr>
            </a:pPr>
            <a:r>
              <a:t>Bottom Ground Plane &amp; Solder Joints</a:t>
            </a:r>
          </a:p>
          <a:p>
            <a:pPr>
              <a:defRPr sz="850">
                <a:solidFill>
                  <a:srgbClr val="2D3748"/>
                </a:solidFill>
                <a:latin typeface="Segoe UI"/>
              </a:defRPr>
            </a:pPr>
            <a:r>
              <a:t>Continuous low-impedance B.Cu ground return plane with thermal relief spokes and plated through-hole component leads.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