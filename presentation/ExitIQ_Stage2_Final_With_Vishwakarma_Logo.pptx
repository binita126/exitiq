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8F0262-A143-4094-B1B9-4E843A92831B}">
  <a:tblStyle styleId="{888F0262-A143-4094-B1B9-4E843A9283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4.png"/><Relationship Id="rId8" Type="http://schemas.openxmlformats.org/officeDocument/2006/relationships/image" Target="../media/image18.png"/><Relationship Id="rId9" Type="http://schemas.openxmlformats.org/officeDocument/2006/relationships/image" Target="../media/image13.png"/><Relationship Id="rId10" Type="http://schemas.openxmlformats.org/officeDocument/2006/relationships/image" Target="../media/image12.png"/><Relationship Id="rId11" Type="http://schemas.openxmlformats.org/officeDocument/2006/relationships/image" Target="../media/image16.png"/><Relationship Id="rId12" Type="http://schemas.openxmlformats.org/officeDocument/2006/relationships/image" Target="../media/image15.png"/><Relationship Id="rId13" Type="http://schemas.openxmlformats.org/officeDocument/2006/relationships/image" Target="../media/image22.png"/><Relationship Id="rId14" Type="http://schemas.openxmlformats.org/officeDocument/2006/relationships/image" Target="../media/image7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75.png"/><Relationship Id="rId11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Relationship Id="rId9" Type="http://schemas.openxmlformats.org/officeDocument/2006/relationships/image" Target="../media/image28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22.png"/><Relationship Id="rId9" Type="http://schemas.openxmlformats.org/officeDocument/2006/relationships/image" Target="../media/image75.png"/><Relationship Id="rId10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34.png"/><Relationship Id="rId9" Type="http://schemas.openxmlformats.org/officeDocument/2006/relationships/image" Target="../media/image32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22.png"/><Relationship Id="rId9" Type="http://schemas.openxmlformats.org/officeDocument/2006/relationships/image" Target="../media/image75.png"/><Relationship Id="rId10" Type="http://schemas.openxmlformats.org/officeDocument/2006/relationships/image" Target="../media/image6.png"/></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0.xml" /><ns0:Relationship Id="rId3" Type="http://schemas.openxmlformats.org/officeDocument/2006/relationships/image" Target="../media/image7.png" /><ns0:Relationship Id="rId4" Type="http://schemas.openxmlformats.org/officeDocument/2006/relationships/image" Target="../media/image3.png" /><ns0:Relationship Id="rId5" Type="http://schemas.openxmlformats.org/officeDocument/2006/relationships/image" Target="../media/image25.png" /><ns0:Relationship Id="rId6" Type="http://schemas.openxmlformats.org/officeDocument/2006/relationships/image" Target="../media/image47.png" /><ns0:Relationship Id="rId7" Type="http://schemas.openxmlformats.org/officeDocument/2006/relationships/image" Target="../media/image12.png" /><ns0:Relationship Id="rId8" Type="http://schemas.openxmlformats.org/officeDocument/2006/relationships/image" Target="../media/image38.png" /><ns0:Relationship Id="rId9" Type="http://schemas.openxmlformats.org/officeDocument/2006/relationships/image" Target="../media/image41.png" /><ns0:Relationship Id="rId10" Type="http://schemas.openxmlformats.org/officeDocument/2006/relationships/image" Target="../media/image22.png" /><ns0:Relationship Id="rId11" Type="http://schemas.openxmlformats.org/officeDocument/2006/relationships/image" Target="../media/image75.png" /><ns0:Relationship Id="rId101" Type="http://schemas.openxmlformats.org/officeDocument/2006/relationships/image" Target="../media/image_s10_top.png" /><ns0:Relationship Id="rId102" Type="http://schemas.openxmlformats.org/officeDocument/2006/relationships/image" Target="../media/image_s10_bot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1.xml" /><ns0:Relationship Id="rId3" Type="http://schemas.openxmlformats.org/officeDocument/2006/relationships/image" Target="../media/image56.png" /><ns0:Relationship Id="rId4" Type="http://schemas.openxmlformats.org/officeDocument/2006/relationships/image" Target="../media/image60.png" /><ns0:Relationship Id="rId5" Type="http://schemas.openxmlformats.org/officeDocument/2006/relationships/image" Target="../media/image50.png" /><ns0:Relationship Id="rId6" Type="http://schemas.openxmlformats.org/officeDocument/2006/relationships/image" Target="../media/image6.png" /><ns0:Relationship Id="rId7" Type="http://schemas.openxmlformats.org/officeDocument/2006/relationships/image" Target="../media/image42.png" /><ns0:Relationship Id="rId8" Type="http://schemas.openxmlformats.org/officeDocument/2006/relationships/image" Target="../media/image44.png" /><ns0:Relationship Id="rId9" Type="http://schemas.openxmlformats.org/officeDocument/2006/relationships/image" Target="../media/image43.png" /><ns0:Relationship Id="rId10" Type="http://schemas.openxmlformats.org/officeDocument/2006/relationships/image" Target="../media/image22.png" /><ns0:Relationship Id="rId11" Type="http://schemas.openxmlformats.org/officeDocument/2006/relationships/image" Target="../media/image75.png" /><ns0:Relationship Id="rId101" Type="http://schemas.openxmlformats.org/officeDocument/2006/relationships/image" Target="../media/image_s11_top.png" /><ns0:Relationship Id="rId102" Type="http://schemas.openxmlformats.org/officeDocument/2006/relationships/image" Target="../media/image_s11_bot.png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2.xml" /><ns0:Relationship Id="rId3" Type="http://schemas.openxmlformats.org/officeDocument/2006/relationships/image" Target="../media/image7.png" /><ns0:Relationship Id="rId4" Type="http://schemas.openxmlformats.org/officeDocument/2006/relationships/image" Target="../media/image3.png" /><ns0:Relationship Id="rId5" Type="http://schemas.openxmlformats.org/officeDocument/2006/relationships/image" Target="../media/image25.png" /><ns0:Relationship Id="rId6" Type="http://schemas.openxmlformats.org/officeDocument/2006/relationships/image" Target="../media/image47.png" /><ns0:Relationship Id="rId7" Type="http://schemas.openxmlformats.org/officeDocument/2006/relationships/image" Target="../media/image12.png" /><ns0:Relationship Id="rId8" Type="http://schemas.openxmlformats.org/officeDocument/2006/relationships/image" Target="../media/image45.png" /><ns0:Relationship Id="rId9" Type="http://schemas.openxmlformats.org/officeDocument/2006/relationships/image" Target="../media/image46.png" /><ns0:Relationship Id="rId10" Type="http://schemas.openxmlformats.org/officeDocument/2006/relationships/image" Target="../media/image22.png" /><ns0:Relationship Id="rId11" Type="http://schemas.openxmlformats.org/officeDocument/2006/relationships/image" Target="../media/image75.png" /><ns0:Relationship Id="rId101" Type="http://schemas.openxmlformats.org/officeDocument/2006/relationships/image" Target="../media/image_s12_bot.png" /></ns0: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8.png"/><Relationship Id="rId5" Type="http://schemas.openxmlformats.org/officeDocument/2006/relationships/image" Target="../media/image20.png"/><Relationship Id="rId6" Type="http://schemas.openxmlformats.org/officeDocument/2006/relationships/image" Target="../media/image49.png"/><Relationship Id="rId7" Type="http://schemas.openxmlformats.org/officeDocument/2006/relationships/image" Target="../media/image22.png"/><Relationship Id="rId8" Type="http://schemas.openxmlformats.org/officeDocument/2006/relationships/image" Target="../media/image75.png"/><Relationship Id="rId9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12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7.png"/><Relationship Id="rId11" Type="http://schemas.openxmlformats.org/officeDocument/2006/relationships/image" Target="../media/image22.png"/><Relationship Id="rId12" Type="http://schemas.openxmlformats.org/officeDocument/2006/relationships/image" Target="../media/image7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61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59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12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22.png"/><Relationship Id="rId13" Type="http://schemas.openxmlformats.org/officeDocument/2006/relationships/image" Target="../media/image7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6.png"/><Relationship Id="rId9" Type="http://schemas.openxmlformats.org/officeDocument/2006/relationships/image" Target="../media/image12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None/>
              <a:defRPr sz="3200" b="1" i="0">
                <a:solidFill>
                  <a:srgbClr val="0E1C36"/>
                </a:solidFill>
                <a:latin typeface="Segoe UI"/>
              </a:defRPr>
            </a:pPr>
            <a:r>
              <a:t>ExitIQ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371600" y="3749039"/>
            <a:ext cx="944575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0E1C36"/>
                </a:solidFill>
                <a:latin typeface="Segoe UI"/>
              </a:defRPr>
            </a:pPr>
            <a:r>
              <a:t>Edge-AI Based Dynamic Emergency Evacuation &amp; Hazard Prevention System</a:t>
            </a:r>
          </a:p>
          <a:p>
            <a:pPr algn="ctr">
              <a:spcBef>
                <a:spcPts val="600"/>
              </a:spcBef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Theme: AI in Hardware &amp; Manufacturing  |  Sub-theme: Worker Safety &amp; Hazard Prevention</a:t>
            </a:r>
          </a:p>
          <a:p>
            <a:pPr algn="ctr">
              <a:spcBef>
                <a:spcPts val="1200"/>
              </a:spcBef>
              <a:defRPr sz="1100" b="1" i="0">
                <a:solidFill>
                  <a:srgbClr val="107C82"/>
                </a:solidFill>
                <a:latin typeface="Segoe UI"/>
              </a:defRPr>
            </a:pPr>
            <a:r>
              <a:t>Official Vishwakarma Application ID: [ADD OFFICIAL VISHWAKARMA APPLICATION ID]</a:t>
            </a:r>
          </a:p>
          <a:p>
            <a:pPr algn="ctr">
              <a:spcBef>
                <a:spcPts val="600"/>
              </a:spcBef>
              <a:defRPr sz="1050" b="0" i="0">
                <a:solidFill>
                  <a:srgbClr val="2D3748"/>
                </a:solidFill>
                <a:latin typeface="Segoe UI"/>
              </a:defRPr>
            </a:pPr>
            <a:r>
              <a:t>Student Team: [ADD TEAM NAME]  |  Institutional Affiliation: [ADD INSTITUTION / DEPARTMENT]</a:t>
            </a:r>
            <a:br/>
            <a:r>
              <a:t>Faculty Mentor: Prof. [ADD FACULTY 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TextBox 10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Problem Context: The Lethal Flaw of Static Signage in Industrial Fires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1520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BE2828"/>
                </a:solidFill>
                <a:latin typeface="Segoe UI"/>
              </a:defRPr>
            </a:pPr>
            <a:r>
              <a:t>RAPID HAZARD PROPAGATION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In industrial manufacturing plants, chemical storage, and logistics warehouses, fire propagation is non-linear and violent.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Flashover can occur in under 3 minutes, generating dense carbon monoxide, hydrogen cyanide, and toxic VOCs.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Thick smoke reduces corridor visibility to &lt; 1.0 meter within 60 seconds, eliminating visual recognition of landmarks.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379976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STATIC SIGNAGE BLINDSPOT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Conventional illuminated exit signs (ISO 7010 / NFPA 101) are statically mounted with permanent fixed arrows.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During an emergency, static signs continuously point toward primary designated exits even if that corridor is engulfed in flames.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Trapped occupants following signs blindly walk directly into fire fronts, toxic smoke pools, and collapsed pathways.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Forced retreat causes fatal bottleneck jams, panic surges, and deadly inhalation.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28432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TARGET BENEFICIARIES &amp; URGENCY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Primary Users: Industrial shop-floor workers, warehouse personnel, chemical handling technicians, and facility visitors.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Emergency First Responders: Benefit from isolated hazard zones and prevented cluster fatalities.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Regulatory Compliance: Supplements mandatory fire safety infrastructure by providing dynamic local guidance when central networks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TextBox 12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User Journey Storyboard: Fixed Conventional Signage vs. Adaptive ExitIQ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1520" y="1188720"/>
            <a:ext cx="52120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 i="0">
                <a:solidFill>
                  <a:srgbClr val="BE2828"/>
                </a:solidFill>
                <a:latin typeface="Segoe UI"/>
              </a:defRPr>
            </a:pPr>
            <a:r>
              <a:t>BEFORE: CONVENTIONAL STATIC EGRESS RESPONSE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16002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0120" y="1645920"/>
            <a:ext cx="4754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Segoe UI"/>
              </a:defRPr>
            </a:pPr>
            <a:r>
              <a:t>CONCEPTUAL FACILITY LAYOUT • STATIC RESPONSE SCENARIO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51560" y="2011680"/>
            <a:ext cx="9144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0E1C36"/>
                </a:solidFill>
                <a:latin typeface="Segoe UI"/>
              </a:defRPr>
            </a:pPr>
            <a:r>
              <a:t>Worker Zone</a:t>
            </a:r>
            <a:br/>
            <a:r>
              <a:t>(Starting Area)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2011680" y="2148840"/>
            <a:ext cx="45720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514600" y="2011680"/>
            <a:ext cx="822960" cy="502920"/>
          </a:xfrm>
          <a:prstGeom prst="rect">
            <a:avLst/>
          </a:prstGeom>
          <a:solidFill>
            <a:srgbClr val="F8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2D3748"/>
                </a:solidFill>
                <a:latin typeface="Segoe UI"/>
              </a:defRPr>
            </a:pPr>
            <a:r>
              <a:t>Junction 1</a:t>
            </a:r>
            <a:br/>
            <a:r>
              <a:t>(Static Sign ➔)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3383280" y="2148840"/>
            <a:ext cx="548640" cy="228600"/>
          </a:xfrm>
          <a:prstGeom prst="rightArrow">
            <a:avLst/>
          </a:prstGeom>
          <a:solidFill>
            <a:srgbClr val="B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977639" y="1874519"/>
            <a:ext cx="1645920" cy="777240"/>
          </a:xfrm>
          <a:prstGeom prst="roundRect">
            <a:avLst/>
          </a:prstGeom>
          <a:solidFill>
            <a:srgbClr val="FEF2F2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CORRIDOR B (ACTIVE FIRE)</a:t>
            </a:r>
            <a:br/>
            <a:r>
              <a:t>Static sign points workers HERE</a:t>
            </a:r>
            <a:br/>
            <a:r>
              <a:t>Heavy toxic smoke &amp; blockage!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514600" y="2834640"/>
            <a:ext cx="82296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650" b="0" i="0">
                <a:solidFill>
                  <a:srgbClr val="64748B"/>
                </a:solidFill>
                <a:latin typeface="Segoe UI"/>
              </a:defRPr>
            </a:pPr>
            <a:r>
              <a:t>Corridor C</a:t>
            </a:r>
            <a:br/>
            <a:r>
              <a:t>(Safe Exit 2)</a:t>
            </a:r>
            <a:br/>
            <a:r>
              <a:t>[IGNORED]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4400" y="3794760"/>
            <a:ext cx="48463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Hazard Erupts: Corridor B ignites; rapid toxic smoke accumulation.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General Siren: Standard audible alarm sounds; zero zone hazard awareness.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Static Blindness: Occupants follow permanent directional signs straight toward fire.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Fatal Encounter: Workers encounter toxic smoke pool; retreat causes crush panic.</a:t>
            </a:r>
          </a:p>
          <a:p>
            <a:pPr>
              <a:spcBef>
                <a:spcPts val="400"/>
              </a:spcBef>
              <a:defRPr sz="850" b="1" i="0">
                <a:solidFill>
                  <a:srgbClr val="BE2828"/>
                </a:solidFill>
                <a:latin typeface="Segoe UI"/>
              </a:defRPr>
            </a:pPr>
            <a:r>
              <a:t>Identified Failure Mode: Zero route adaptability; high smoke inhalation risk.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45352" y="1188720"/>
            <a:ext cx="521208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 i="0">
                <a:solidFill>
                  <a:srgbClr val="228B22"/>
                </a:solidFill>
                <a:latin typeface="Segoe UI"/>
              </a:defRPr>
            </a:pPr>
            <a:r>
              <a:t>AFTER: EXITIQ DYNAMIC EGRESS GUIDANCE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28232" y="16002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73952" y="1645920"/>
            <a:ext cx="4754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Segoe UI"/>
              </a:defRPr>
            </a:pPr>
            <a:r>
              <a:t>SAME FACILITY LAYOUT • EXITIQ REAL-TIME RECALCULATION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565392" y="2011680"/>
            <a:ext cx="9144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0E1C36"/>
                </a:solidFill>
                <a:latin typeface="Segoe UI"/>
              </a:defRPr>
            </a:pPr>
            <a:r>
              <a:t>Worker Zone</a:t>
            </a:r>
            <a:br/>
            <a:r>
              <a:t>(Starting Area)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7525512" y="2148840"/>
            <a:ext cx="457200" cy="22860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028431" y="2011680"/>
            <a:ext cx="960120" cy="502920"/>
          </a:xfrm>
          <a:prstGeom prst="rect">
            <a:avLst/>
          </a:prstGeom>
          <a:solidFill>
            <a:srgbClr val="0E1C36"/>
          </a:solidFill>
          <a:ln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FFFFFF"/>
                </a:solidFill>
                <a:latin typeface="Segoe UI"/>
              </a:defRPr>
            </a:pPr>
            <a:r>
              <a:t>ExitIQ Terminal</a:t>
            </a:r>
            <a:br/>
            <a:r>
              <a:t>(LED Flips ⬇)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418320" y="1874519"/>
            <a:ext cx="1691640" cy="777240"/>
          </a:xfrm>
          <a:prstGeom prst="roundRect">
            <a:avLst/>
          </a:prstGeom>
          <a:solidFill>
            <a:srgbClr val="FEF2F2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CORRIDOR B: HIGH RISK</a:t>
            </a:r>
            <a:br/>
            <a:r>
              <a:t>ExitIQ LED displays RED [X]</a:t>
            </a:r>
            <a:br/>
            <a:r>
              <a:t>Route Cost: INFINITY (Blocked)</a:t>
            </a:r>
          </a:p>
        </p:txBody>
      </p:sp>
      <p:sp>
        <p:nvSpPr>
          <p:cNvPr id="139" name="Down Arrow 138"/>
          <p:cNvSpPr/>
          <p:nvPr/>
        </p:nvSpPr>
        <p:spPr>
          <a:xfrm>
            <a:off x="8366760" y="2560320"/>
            <a:ext cx="274320" cy="411480"/>
          </a:xfrm>
          <a:prstGeom prst="down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028431" y="3017520"/>
            <a:ext cx="1554480" cy="502920"/>
          </a:xfrm>
          <a:prstGeom prst="rect">
            <a:avLst/>
          </a:prstGeom>
          <a:solidFill>
            <a:srgbClr val="F0FDF4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228B22"/>
                </a:solidFill>
                <a:latin typeface="Segoe UI"/>
              </a:defRPr>
            </a:pPr>
            <a:r>
              <a:t>✔ Corridor C ➔ SAFE EXIT 2</a:t>
            </a:r>
            <a:br/>
            <a:r>
              <a:t>Green dynamic arrows guide egress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8232" y="3794760"/>
            <a:ext cx="48463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Zone Sensing: Sensirion SHT40 + SGP40 detect VOC index jump &amp; thermal rate-of-rise.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Edge Risk Assessment: ESP32-S3 classifies Corridor B as HIGH RISK (&lt;500 ms target).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Dynamic Recalculation: Graph pathfinder assigns infinite weight to Corridor B; selects Exit 2.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Physical Redirection: WS2812B green LEDs strobe toward Corridor C; buzzer pulses cadence.</a:t>
            </a:r>
          </a:p>
          <a:p>
            <a:pPr>
              <a:spcBef>
                <a:spcPts val="400"/>
              </a:spcBef>
              <a:defRPr sz="850" b="1" i="0">
                <a:solidFill>
                  <a:srgbClr val="228B22"/>
                </a:solidFill>
                <a:latin typeface="Segoe UI"/>
              </a:defRPr>
            </a:pPr>
            <a:r>
              <a:t>Target Benefit: Eliminates wrong-route entries; verified in Stage 3 comparative trials.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0" i="1">
                <a:solidFill>
                  <a:srgbClr val="64748B"/>
                </a:solidFill>
                <a:latin typeface="Segoe UI"/>
              </a:defRPr>
            </a:pPr>
            <a:r>
              <a:t>Note: Illustrative scenario representing proposed dynamic guidance behavior. Quantitative evacuation time reductions are development targets subject to formal Stage 3 physical comparative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TextBox 124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0E1C36"/>
                </a:solidFill>
                <a:latin typeface="Segoe UI"/>
              </a:defRPr>
            </a:pPr>
            <a:r>
              <a:t>System Architecture: End-to-End ExitIQ Data Flow</a:t>
            </a:r>
          </a:p>
          <a:p>
            <a:pPr>
              <a:spcBef>
                <a:spcPts val="300"/>
              </a:spcBef>
              <a:defRPr sz="950" b="0" i="0">
                <a:solidFill>
                  <a:srgbClr val="64748B"/>
                </a:solidFill>
                <a:latin typeface="Segoe UI"/>
              </a:defRPr>
            </a:pPr>
            <a:r>
              <a:t>Proposed local-first architecture • diagram is editable in PowerPoint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31520" y="1325880"/>
            <a:ext cx="1874519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1. SENSING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SHT40: temperature &amp; RH</a:t>
            </a:r>
            <a:br/>
            <a:r>
              <a:t>• SGP40: VOC air-quality index</a:t>
            </a:r>
            <a:br/>
            <a:r>
              <a:t>• Raw readings pre-filtered locally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2660903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944367" y="1325880"/>
            <a:ext cx="1874519" cy="1828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2. EDGE</a:t>
            </a:r>
            <a:br/>
            <a:r>
              <a:t>PROCESSING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ESP32-S3 microcontroller</a:t>
            </a:r>
            <a:br/>
            <a:r>
              <a:t>• Multi-sensor verification</a:t>
            </a:r>
            <a:br/>
            <a:r>
              <a:t>• Assess zone hazard severity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4873750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157214" y="1325880"/>
            <a:ext cx="1874519" cy="18288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RISK MAP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Assign 4-state zone risk</a:t>
            </a:r>
            <a:br/>
            <a:r>
              <a:t>• Update corridor graph-edge costs</a:t>
            </a:r>
            <a:br/>
            <a:r>
              <a:t>• Normal / Warning / High / Critical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7086597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370061" y="1325880"/>
            <a:ext cx="1874519" cy="1828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4. ROUTE ENGINE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Heuristic graph search (Dijkstra)</a:t>
            </a:r>
            <a:br/>
            <a:r>
              <a:t>• Penalize hazardous zones</a:t>
            </a:r>
            <a:br/>
            <a:r>
              <a:t>• Select reachable safe exit path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9299444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582908" y="1325880"/>
            <a:ext cx="1874519" cy="1828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5. GUIDANCE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Dynamic directional LEDs</a:t>
            </a:r>
            <a:br/>
            <a:r>
              <a:t>• SSD1306 OLED text display</a:t>
            </a:r>
            <a:br/>
            <a:r>
              <a:t>• Local buzzer audible cadence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11023" y="3246120"/>
            <a:ext cx="18288" cy="347472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881626" y="3575304"/>
            <a:ext cx="6638541" cy="18288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72482" y="3383280"/>
            <a:ext cx="18288" cy="210312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Up Arrow 137"/>
          <p:cNvSpPr/>
          <p:nvPr/>
        </p:nvSpPr>
        <p:spPr>
          <a:xfrm>
            <a:off x="3799330" y="3246120"/>
            <a:ext cx="164592" cy="146304"/>
          </a:xfrm>
          <a:prstGeom prst="up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155946" y="3337560"/>
            <a:ext cx="608990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 b="1" i="1">
                <a:solidFill>
                  <a:srgbClr val="107C82"/>
                </a:solidFill>
                <a:latin typeface="Segoe UI"/>
              </a:defRPr>
            </a:pPr>
            <a:r>
              <a:t>Continuous monitoring &amp; route re-evaluation loop (target update cadence to be validated in Stage 3)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31520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A. LOCAL COMMUNICATIONS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Planned node-to-node local protocol (ESP-NOW / BLE mesh)</a:t>
            </a:r>
            <a:br/>
            <a:r>
              <a:t>• 100% local-first architecture; zero external cloud dependency</a:t>
            </a:r>
            <a:br/>
            <a:r>
              <a:t>• Defined node-to-node timeout &amp; loss-of-link failure behavior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416552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B. POWER &amp; BACKUP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TI BQ24074 Dynamic Power-Path Management (DPPM)</a:t>
            </a:r>
            <a:br/>
            <a:r>
              <a:t>• Direct system powering while charging 18650 Li-Ion cell</a:t>
            </a:r>
            <a:br/>
            <a:r>
              <a:t>• TPS61023 synchronous 5V boost; runtime/switchover subject to test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101584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C. FAIL-SAFE LOGIC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Stale sensor / communication timeout marks zone HIGH RISK</a:t>
            </a:r>
            <a:br/>
            <a:r>
              <a:t>• FreeRTOS hardware watchdog resets locked pathfinding tasks</a:t>
            </a:r>
            <a:br/>
            <a:r>
              <a:t>• If no reachable safe exit exists: trigger site emergency shelter rule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31520" y="5596128"/>
            <a:ext cx="1072591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54864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Engineering Demarcation &amp; Safety Boundary Note:</a:t>
            </a:r>
          </a:p>
          <a:p>
            <a:pPr>
              <a:spcBef>
                <a:spcPts val="100"/>
              </a:spcBef>
              <a:defRPr sz="750" b="0" i="0">
                <a:solidFill>
                  <a:srgbClr val="475569"/>
                </a:solidFill>
                <a:latin typeface="Segoe UI"/>
              </a:defRPr>
            </a:pPr>
            <a:r>
              <a:t>ExitIQ is a proposed supplementary evacuation-guidance prototype. The SHT40 measures temperature and relative humidity; the SGP40 provides a VOC air-quality index and is not a certified smoke or toxic-gas detector. ExitIQ does not replace certified fire alarms, required exit signage, or approved emergency procedures.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TextBox 17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System Flow: Real-Time Hazard Sensing to Guidance Actuation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31520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1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E3562A"/>
                </a:solidFill>
                <a:latin typeface="Segoe UI"/>
              </a:defRPr>
            </a:pPr>
            <a:r>
              <a:t>1. HAZARD DETECT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SHT40 registers thermal spike (&gt;5°C/min); SGP40 VOC index jumps from 100 to 450.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542032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2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107C82"/>
                </a:solidFill>
                <a:latin typeface="Segoe UI"/>
              </a:defRPr>
            </a:pPr>
            <a:r>
              <a:t>2. SENSOR FUSION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ESP32-S3 cross-validates dual sensor metrics, eliminating single-sensor false triggers.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352544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3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3. RISK MAP UPDATE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Corridor B classified as HIGH RISK state in local memory in &lt;500 ms target.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163056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4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4. ROUTE RECALC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Dijkstra pathfinder penalizes Corridor B; selects alternate safe path to Exit 2 in &lt;100 ms target.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973568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5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228B22"/>
                </a:solidFill>
                <a:latin typeface="Segoe UI"/>
              </a:defRPr>
            </a:pPr>
            <a:r>
              <a:t>5. PHYSICAL ACTUATE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WS2812B LEDs strobe green to Exit 2; OLED displays text; buzzer pulses alert.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9784080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6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64748B"/>
                </a:solidFill>
                <a:latin typeface="Segoe UI"/>
              </a:defRPr>
            </a:pPr>
            <a:r>
              <a:t>6. ADAPT CONTINUOUS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FreeRTOS task loops every 500ms, dynamically updating as hazard front advances.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731520" y="4389120"/>
            <a:ext cx="10725912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ILLUSTRATIVE EVACUATION SCENARIO: CORRIDOR B BLOCKED</a:t>
            </a:r>
          </a:p>
          <a:p>
            <a:pPr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Initial State: Plant workers in Zone 1 are guided by static exit signs toward Central Exit 1 via Corridor B.</a:t>
            </a:r>
            <a:br/>
            <a:r>
              <a:t>• Hazard Eruption: An electrical fire in Corridor B triggers thermal spikes and toxic gas generation.</a:t>
            </a:r>
            <a:br/>
            <a:r>
              <a:t>• ExitIQ Response: Sensing node immediately detects environmental degradation, marks Corridor B as HIGH RISK, and dynamically flips junction LED arrows 180° to guide occupants through Corridor A toward safe Eastern Exit 2.</a:t>
            </a:r>
            <a:br/>
            <a:r>
              <a:t>• Result: Eliminates panic, prevents toxic smoke exposure, and completes safe egress within statutory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TextBox 181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Zone-Based Hazard Assessment &amp; Sensor Fusion Calibration Matrix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31520" y="1280160"/>
            <a:ext cx="2542032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NORMAL (SAFE)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20°C - 35°C</a:t>
            </a:r>
            <a:br/>
            <a:r>
              <a:t>VOC Index: &lt; 150</a:t>
            </a:r>
            <a:br/>
            <a:r>
              <a:t>Baseline conditions</a:t>
            </a:r>
          </a:p>
          <a:p>
            <a:pPr>
              <a:spcBef>
                <a:spcPts val="300"/>
              </a:spcBef>
              <a:defRPr sz="800" b="1" i="0">
                <a:solidFill>
                  <a:srgbClr val="228B22"/>
                </a:solidFill>
                <a:latin typeface="Segoe UI"/>
              </a:defRPr>
            </a:pPr>
            <a:r>
              <a:t>Action: Multiplier: 1.0x</a:t>
            </a:r>
            <a:br/>
            <a:r>
              <a:t>Green steady beacon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456432" y="1280160"/>
            <a:ext cx="2542032" cy="14630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D9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D98214"/>
                </a:solidFill>
                <a:latin typeface="Segoe UI"/>
              </a:defRPr>
            </a:pPr>
            <a:r>
              <a:t>WARNING (ALERT)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35°C - 50°C</a:t>
            </a:r>
            <a:br/>
            <a:r>
              <a:t>VOC Index: 150 - 250</a:t>
            </a:r>
            <a:br/>
            <a:r>
              <a:t>Persistent gas rise</a:t>
            </a:r>
          </a:p>
          <a:p>
            <a:pPr>
              <a:spcBef>
                <a:spcPts val="300"/>
              </a:spcBef>
              <a:defRPr sz="800" b="1" i="0">
                <a:solidFill>
                  <a:srgbClr val="D98214"/>
                </a:solidFill>
                <a:latin typeface="Segoe UI"/>
              </a:defRPr>
            </a:pPr>
            <a:r>
              <a:t>Action: Multiplier: 2.5x</a:t>
            </a:r>
            <a:br/>
            <a:r>
              <a:t>Pre-alert dashboard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181344" y="1280160"/>
            <a:ext cx="2542032" cy="14630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HIGH RISK (AVOID)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&gt; 50°C / rate spike</a:t>
            </a:r>
            <a:br/>
            <a:r>
              <a:t>VOC Index: 250 - 400</a:t>
            </a:r>
            <a:br/>
            <a:r>
              <a:t>Combustion detected</a:t>
            </a:r>
          </a:p>
          <a:p>
            <a:pPr>
              <a:spcBef>
                <a:spcPts val="300"/>
              </a:spcBef>
              <a:defRPr sz="800" b="1" i="0">
                <a:solidFill>
                  <a:srgbClr val="E3562A"/>
                </a:solidFill>
                <a:latin typeface="Segoe UI"/>
              </a:defRPr>
            </a:pPr>
            <a:r>
              <a:t>Action: Multiplier: 10.0x</a:t>
            </a:r>
            <a:br/>
            <a:r>
              <a:t>Dynamic LED redirect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906256" y="1280160"/>
            <a:ext cx="2542032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BE2828"/>
                </a:solidFill>
                <a:latin typeface="Segoe UI"/>
              </a:defRPr>
            </a:pPr>
            <a:r>
              <a:t>CRITICAL (BLOCKED)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&gt; 70°C</a:t>
            </a:r>
            <a:br/>
            <a:r>
              <a:t>VOC Index: &gt; 400</a:t>
            </a:r>
            <a:br/>
            <a:r>
              <a:t>Dense toxic smoke</a:t>
            </a:r>
          </a:p>
          <a:p>
            <a:pPr>
              <a:spcBef>
                <a:spcPts val="300"/>
              </a:spcBef>
              <a:defRPr sz="800" b="1" i="0">
                <a:solidFill>
                  <a:srgbClr val="BE2828"/>
                </a:solidFill>
                <a:latin typeface="Segoe UI"/>
              </a:defRPr>
            </a:pPr>
            <a:r>
              <a:t>Action: Multiplier: Infinity</a:t>
            </a:r>
            <a:br/>
            <a:r>
              <a:t>Red X strobe + siren</a:t>
            </a:r>
          </a:p>
        </p:txBody>
      </p:sp>
      <p:graphicFrame>
        <p:nvGraphicFramePr>
          <p:cNvPr id="187" name="Table 186"/>
          <p:cNvGraphicFramePr>
            <a:graphicFrameLocks noGrp="1"/>
          </p:cNvGraphicFramePr>
          <p:nvPr/>
        </p:nvGraphicFramePr>
        <p:xfrm>
          <a:off x="731520" y="2926080"/>
          <a:ext cx="107259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1828800"/>
                <a:gridCol w="1920240"/>
                <a:gridCol w="2039112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 State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Provisional Trigger Rule / Conditions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Edge Route Action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 Guidance Output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Acoustic Output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Normal (Safe)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Temp nominal (20–35°C), VOC Index &lt; 150 (baseline ambient air).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1.0x (Baseline edge weight). Preferred route.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Steady green exit pictogram; ambient white LED illumination.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Silent (Standby). No audible signal.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Warning (Alert)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Thermal rate-of-rise &gt; 3°C/min OR VOC Index 150–250 (persistent degradation).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2.5x. Traversal discouraged if alternatives exist.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OLED status: 'CAUTION: HAZARD NEARBY'; yellow caution border.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Intermittent soft chirp (50 dBA @ 10s intervals).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E3562A"/>
                          </a:solidFill>
                          <a:latin typeface="Segoe UI"/>
                        </a:defRPr>
                      </a:pPr>
                      <a:r>
                        <a:t>High Risk (Avoid)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Sustained temp &gt; 50°C OR VOC Index 250–400 (combustion byproducts detected).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10.0x. Route heavily penalized; triggers recalculation.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Dynamic WS2812B green LEDs flip to point toward alternate safe exit.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Directional pulse alert (75 dBA, 1 Hz cadence).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E3562A"/>
                          </a:solidFill>
                          <a:latin typeface="Segoe UI"/>
                        </a:defRPr>
                      </a:pPr>
                      <a:r>
                        <a:t>Critical (Blocked)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Extreme temp &gt; 70°C OR VOC Index &gt; 400 (toxic smoke pool) OR node link failure.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INFINITY (Edge weight pruned from graph). Path closed.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Pulsing red [X] symbol; OLED: 'CORRIDOR BLOCKED - DO NOT ENTER'.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Continuous emergency siren (85 dBA CUI CMT-8540S).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8" name="TextBox 187"/>
          <p:cNvSpPr txBox="1"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0" i="1">
                <a:solidFill>
                  <a:srgbClr val="64748B"/>
                </a:solidFill>
                <a:latin typeface="Segoe UI"/>
              </a:defRPr>
            </a:pPr>
            <a:r>
              <a:t>Calibration Status: Thresholds shown are provisional calibration values established from component datasheets and laboratory chamber testing. Final operational thresholds require validation in formal Stage 3 smoke chamber and fire-drill trials.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7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TextBox 21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Dynamic Route Planning: Real-Time Graph Recalculation Around Hazards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31520" y="1234440"/>
            <a:ext cx="594360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22960" y="1280160"/>
            <a:ext cx="57607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 i="0">
                <a:solidFill>
                  <a:srgbClr val="0E1C36"/>
                </a:solidFill>
                <a:latin typeface="Segoe UI"/>
              </a:defRPr>
            </a:pPr>
            <a:r>
              <a:t>CONCEPTUAL FACILITY GRAPH: DYNAMIC RE-ROUTING (STAGE 2 LAB LAYOUT)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005840" y="1828800"/>
            <a:ext cx="13716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OCCUPANT START</a:t>
            </a:r>
            <a:br/>
            <a:r>
              <a:t>Zone 1 (Workshop)</a:t>
            </a:r>
            <a:br/>
            <a:r>
              <a:t>Initial: 25 Occupants</a:t>
            </a:r>
          </a:p>
        </p:txBody>
      </p:sp>
      <p:sp>
        <p:nvSpPr>
          <p:cNvPr id="222" name="Right Arrow 221"/>
          <p:cNvSpPr/>
          <p:nvPr/>
        </p:nvSpPr>
        <p:spPr>
          <a:xfrm>
            <a:off x="2468880" y="2057400"/>
            <a:ext cx="594360" cy="274320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3154680" y="1828800"/>
            <a:ext cx="12801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E3562A"/>
                </a:solidFill>
                <a:latin typeface="Segoe UI"/>
              </a:defRPr>
            </a:pPr>
            <a:r>
              <a:t>JUNCTION J1</a:t>
            </a:r>
            <a:br/>
            <a:r>
              <a:t>[ExitIQ Node 1]</a:t>
            </a:r>
            <a:br/>
            <a:r>
              <a:t>Re-evaluates Path</a:t>
            </a:r>
          </a:p>
        </p:txBody>
      </p:sp>
      <p:sp>
        <p:nvSpPr>
          <p:cNvPr id="224" name="Right Arrow 223"/>
          <p:cNvSpPr/>
          <p:nvPr/>
        </p:nvSpPr>
        <p:spPr>
          <a:xfrm>
            <a:off x="4526280" y="2057400"/>
            <a:ext cx="5943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5166360" y="1691640"/>
            <a:ext cx="1371600" cy="10058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BE2828"/>
                </a:solidFill>
                <a:latin typeface="Segoe UI"/>
              </a:defRPr>
            </a:pPr>
            <a:r>
              <a:t>CORRIDOR B</a:t>
            </a:r>
            <a:br/>
            <a:r>
              <a:t>Hazard: HIGH RISK</a:t>
            </a:r>
            <a:br/>
            <a:r>
              <a:t>Weight: INFINITY</a:t>
            </a:r>
            <a:br/>
            <a:r>
              <a:t>[BLOCKED / AVOID]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166360" y="2834640"/>
            <a:ext cx="13716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PRIMARY EXIT 1</a:t>
            </a:r>
            <a:br/>
            <a:r>
              <a:t>[COMPROMISED]</a:t>
            </a:r>
          </a:p>
        </p:txBody>
      </p:sp>
      <p:sp>
        <p:nvSpPr>
          <p:cNvPr id="227" name="Down Arrow 226"/>
          <p:cNvSpPr/>
          <p:nvPr/>
        </p:nvSpPr>
        <p:spPr>
          <a:xfrm>
            <a:off x="3611880" y="2651760"/>
            <a:ext cx="365760" cy="640080"/>
          </a:xfrm>
          <a:prstGeom prst="down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2834640" y="3383280"/>
            <a:ext cx="1920240" cy="7315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228B22"/>
                </a:solidFill>
                <a:latin typeface="Segoe UI"/>
              </a:defRPr>
            </a:pPr>
            <a:r>
              <a:t>✔ CORRIDOR C (ALTERNATIVE)</a:t>
            </a:r>
            <a:br/>
            <a:r>
              <a:t>Sensor Status: NORMAL (Safe)</a:t>
            </a:r>
            <a:br/>
            <a:r>
              <a:t>Distance: 28m | Weight: 1.0x</a:t>
            </a:r>
          </a:p>
        </p:txBody>
      </p:sp>
      <p:sp>
        <p:nvSpPr>
          <p:cNvPr id="229" name="Right Arrow 228"/>
          <p:cNvSpPr/>
          <p:nvPr/>
        </p:nvSpPr>
        <p:spPr>
          <a:xfrm>
            <a:off x="4846320" y="3611880"/>
            <a:ext cx="548640" cy="27432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5486400" y="3383280"/>
            <a:ext cx="1051560" cy="731520"/>
          </a:xfrm>
          <a:prstGeom prst="roundRect">
            <a:avLst/>
          </a:prstGeom>
          <a:solidFill>
            <a:srgbClr val="228B22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SAFE</a:t>
            </a:r>
            <a:br/>
            <a:r>
              <a:t>EXIT 2</a:t>
            </a:r>
            <a:br/>
            <a:r>
              <a:t>[CLEAR]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14400" y="4343400"/>
            <a:ext cx="55778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DIAGRAM LEGEND &amp; VERIFICATION CONTEXT: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Initial Path (Grey): Pre-incident baseline route pointing toward Exit 1 via Corridor B.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Blocked Route (Red): Active fire detected; corridor assigned INFINITE cost and pruned from pathfinder.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Recalculated Route (Green): Dijkstra algorithm dynamically routes through safe Corridor C to Exit 2.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Status Note: Conceptual test topology for Stage 2 validation; not an actual facility architectural blueprint.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976872" y="1234440"/>
            <a:ext cx="44805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 i="0">
                <a:solidFill>
                  <a:srgbClr val="0E1C36"/>
                </a:solidFill>
                <a:latin typeface="Segoe UI"/>
              </a:defRPr>
            </a:pPr>
            <a:r>
              <a:t>ALGORITHMIC ROUTE RECALCULATION</a:t>
            </a:r>
          </a:p>
          <a:p>
            <a:pPr>
              <a:spcBef>
                <a:spcPts val="400"/>
              </a:spcBef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Cost Function: C(e) = Length(e) × Risk_Multiplier(z) + Congestion(e)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Pre-Defined Topology: Building corridors and junctions stored as a directed graph G=(V,E) in ESP32-S3 Flash memory.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Real-Time Risk Ingestion: Zone hazard states continuously update edge weights in memory (&lt;500 ms target sensor-to-graph latency).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Penalty Execution: Normal zones = 1.0x; Warning = 2.5x; High Risk = 10.0x; Critical zones = INFINITY (edge pruned).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Shortest Safe Path: Dijkstra / heuristic A* solves the modified graph in &lt;100 ms target on the ESP32-S3 internal core.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5. Hardware Output: Physical direction vector transmitted to junction WS2812B LED light guides and OLED bezel panels.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6. Invariant Safety Check: The algorithm strictly forbids routing into active hazards. If all exits are blocked, shelter-in-place engages.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TextBox 24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Hardware Subsystems: Verified Component Selection &amp; Architecture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31520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CORE CONTROLLER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ESP32-S3-DevKitC-1-N8R8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Dual-core Xtensa LX7 @ 240MHz</a:t>
            </a:r>
            <a:br/>
            <a:r>
              <a:t>• 8MB Octal Flash + 8MB Octal PSRAM</a:t>
            </a:r>
            <a:br/>
            <a:r>
              <a:t>• Vector instructions accelerate TinyML</a:t>
            </a:r>
            <a:br/>
            <a:r>
              <a:t>• Integrated 2.4GHz Wi-Fi + BLE 5.0 mesh</a:t>
            </a:r>
            <a:br/>
            <a:r>
              <a:t>• FreeRTOS multi-tasking task scheduler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4379976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THERMAL SENSOR BAY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Sensirion SHT40-AD1B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High-precision digital temperature/RH</a:t>
            </a:r>
            <a:br/>
            <a:r>
              <a:t>• Accuracy: ±0.2°C typ (0°C to 60°C)</a:t>
            </a:r>
            <a:br/>
            <a:r>
              <a:t>• Fast response time: τ63% = 2.0 seconds</a:t>
            </a:r>
            <a:br/>
            <a:r>
              <a:t>• Ultra-low power: 0.4 µA average @ 1Hz</a:t>
            </a:r>
            <a:br/>
            <a:r>
              <a:t>• I2C Interface: Standard fast-mode 400kHz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028432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BE2828"/>
                </a:solidFill>
                <a:latin typeface="Segoe UI"/>
              </a:defRPr>
            </a:pPr>
            <a:r>
              <a:t>COMBUSTION / VOC SENSOR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Sensirion SGP40-DIS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Digital MOx VOC Air Quality Sensor</a:t>
            </a:r>
            <a:br/>
            <a:r>
              <a:t>• Integrated micro-hotplate sensor element</a:t>
            </a:r>
            <a:br/>
            <a:r>
              <a:t>• Digital VOC Index algorithm output (0–500)</a:t>
            </a:r>
            <a:br/>
            <a:r>
              <a:t>• Senses smoldering fire pyrolysis gases</a:t>
            </a:r>
            <a:br/>
            <a:r>
              <a:t>• Compensated via SHT40 temp/RH feeds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31520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POWER-PATH MANAGER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Texas Instruments BQ24074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Autonomous Dynamic Power-Path (DPPM)</a:t>
            </a:r>
            <a:br/>
            <a:r>
              <a:t>• Supplies system directly while charging cell</a:t>
            </a:r>
            <a:br/>
            <a:r>
              <a:t>• &lt;100ns brownout-free battery switchover</a:t>
            </a:r>
            <a:br/>
            <a:r>
              <a:t>• 1.5A max charge current (ISET configured)</a:t>
            </a:r>
            <a:br/>
            <a:r>
              <a:t>• Under-voltage &amp; over-current protection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4379976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0E1C36"/>
                </a:solidFill>
                <a:latin typeface="Segoe UI"/>
              </a:defRPr>
            </a:pPr>
            <a:r>
              <a:t>5V SYNCHRONOUS BOOST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Texas Instruments TPS61023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Synchronous battery-to-5V step-up</a:t>
            </a:r>
            <a:br/>
            <a:r>
              <a:t>• 3.7A valley switch current limit</a:t>
            </a:r>
            <a:br/>
            <a:r>
              <a:t>• Supplies clean 5V to WS2812B LEDs</a:t>
            </a:r>
            <a:br/>
            <a:r>
              <a:t>• &gt;92% power conversion efficiency</a:t>
            </a:r>
            <a:br/>
            <a:r>
              <a:t>• Stable operation down to 2.7V battery cutoff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028432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64748B"/>
                </a:solidFill>
                <a:latin typeface="Segoe UI"/>
              </a:defRPr>
            </a:pPr>
            <a:r>
              <a:t>EGRESS GUIDANCE OUTPUTS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WS2812B + OLED + Buzzer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8x WS2812B 5050 RGB addressable LEDs</a:t>
            </a:r>
            <a:br/>
            <a:r>
              <a:t>• TI 74AHCT1G125 3.3V-to-5V level shifter</a:t>
            </a:r>
            <a:br/>
            <a:r>
              <a:t>• 0.96' 128x64 SSD1306 Graphic OLED panel</a:t>
            </a:r>
            <a:br/>
            <a:r>
              <a:t>• CUI CMT-8540S 85 dBA 4kHz audio buzzer</a:t>
            </a:r>
            <a:br/>
            <a:r>
              <a:t>• Triple multi-modal egress alert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9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TextBox 26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Itemized Prototype Bill of Materials (BOM) &amp; Domestic Sourcing</a:t>
            </a:r>
          </a:p>
        </p:txBody>
      </p:sp>
      <p:graphicFrame>
        <p:nvGraphicFramePr>
          <p:cNvPr id="262" name="Table 261"/>
          <p:cNvGraphicFramePr>
            <a:graphicFrameLocks noGrp="1"/>
          </p:cNvGraphicFramePr>
          <p:nvPr/>
        </p:nvGraphicFramePr>
        <p:xfrm>
          <a:off x="731520" y="1234440"/>
          <a:ext cx="107259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017520"/>
                <a:gridCol w="2103120"/>
                <a:gridCol w="548640"/>
                <a:gridCol w="2953512"/>
                <a:gridCol w="1554480"/>
              </a:tblGrid>
              <a:tr h="361603"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 MPN &amp; Description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Package / Form Factor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Sourcing Vendor &amp; Lead Time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Line Total (INR)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ESP32-S3-DevKitC-1-N8R8 MCU 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DIP-44 (2x22 2.54mm socket headers)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Mouser India (3-5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₹850.00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BQ24074RGTR Power-Path &amp; Li-Ion Charger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VQFN-16 (3.0 x 3.0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/ Element14 India (5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₹240.00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TPS61023DRLR Synchronous 5V Boost 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SOT-563 (1.6 x 1.6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India (5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Sensirion SHT40-AD1B-R2 Digital Temp/RH Sensor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DFN-4 (1.5 x 1.5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/ Evelta India (4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₹180.00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Sensirion SGP40-DIS-R4 Digital MOx VOC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DFN-6 (2.44 x 2.44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India (5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₹310.00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Worldsemi WS2812B-B Intelligent RGB LEDs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5050 SMD (5.0 x 5.0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Evelta India (2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CUI CMT-8540S Buzzer + 74AHCT125 Level Shifter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SMD Magnetic + SOT-23-5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Domestic (2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0.96' 128x64 SSD1306 Graphic OLED Display Panel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4-pin I2C Panel (26 x 15 mm active)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(2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₹220.00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Samsung/Panasonic 18650 3400mAh Li-Ion Cell +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Cylindrical Cell + Protection Circuit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Domestic / Robu.in (3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2-Layer Custom FR4 Carrier PCB (Batch Amortized)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100.0 x 80.0 x 1.6 mm FR4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LionCircuits India (6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₹350.00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3" name="Rounded Rectangle 262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 i="0">
                <a:solidFill>
                  <a:srgbClr val="228B22"/>
                </a:solidFill>
                <a:latin typeface="Segoe UI"/>
              </a:defRPr>
            </a:pPr>
            <a:r>
              <a:t>TOTAL ESTIMATED PROTOTYPE NODE COST: ₹3,585 INR  (Per-Node Prototype Estimate)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Cost Scope: Items 1–10 subtotal ₹2,985 + ₹600 allocation for SMD passives/TVS/PTC, connectors/inserts, and 3D printed PETG enclosure.</a:t>
            </a:r>
            <a:br/>
            <a:r>
              <a:t>• Exclusions / Assumptions: Excludes domestic courier freight and 18% GST. Volume batch production (&gt;1,000 nodes) projected to reduce unit cost to ~₹1,850 INR.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7" name="Google Shape;9297;p1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Box 283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Mechanical CAD Engineering: Enclosure Design, Clearances &amp; Thermal Isolation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CATIA V5 ENCLOSURE SPECIFICATIONS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Enclosure Envelope: 114.0 mm x 94.0 mm x 26.0 mm with 2.5 mm nominal wall thickness.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Internal Clearance: 104.0 x 84.0 x 21.0 mm; provides +2.4mm headroom above ESP32 socket headers and +3.4mm above bulk capacitors.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Mounting Geometry: 4x M3 brass heat-set threaded inserts in cylindrical bosses at (5,5), (95,5), (95,75), (5,75) mm.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Interface Cutouts: Left wall USB-C port (9.6x3.6mm), battery harness hatch (8.5x7.0mm), front OLED window (26x15mm), acoustic port (dia 3.0mm).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Thermal Isolation Slot: 1.0 mm milled FR4 air gap slot (Edge.Cuts, X=72-73mm, Y=14-28mm) isolates SHT40/SGP40 from PCB heat.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Material Rationale: Flame-retardant PETG / UL94 V-0 ABS enclosure; optical polycarbonate light pipe with crosstalk baffles.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Validation Status: 3D CAD modeled in CATIA V5; structural FEA not performed (drop testing scheduled for Month 4).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endParaRPr lang="en-US"/>
          </a:p>
        </p:txBody>
      </p:sp>
      <p:pic>
        <p:nvPicPr>
          <p:cNvPr id="9286" name="ExitIQ_CATIA_Assembly_3D" descr="ExitIQ_CATIA_Assembly_3D.png"/>
          <p:cNvPicPr preferRelativeResize="0">
            <a:picLocks noChangeAspect="1"/>
          </p:cNvPicPr>
          <p:nvPr/>
        </p:nvPicPr>
        <p:blipFill rotWithShape="1">
          <a:blip r:embed="rId101">
            <a:alphaModFix/>
          </a:blip>
          <a:srcRect l="0" t="0" r="0" b="0"/>
          <a:stretch>
            <a:fillRect/>
          </a:stretch>
        </p:blipFill>
        <p:spPr>
          <a:xfrm>
            <a:off x="6932376" y="1320160"/>
            <a:ext cx="3838032" cy="20688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87" name="Rounded Rectangle 286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endParaRPr lang="en-US"/>
          </a:p>
        </p:txBody>
      </p:sp>
      <p:pic>
        <p:nvPicPr>
          <p:cNvPr id="9287" name="ExitIQ_CATIA_Lid_Hidden_3D" descr="ExitIQ_CATIA_Lid_Hidden_3D.png"/>
          <p:cNvPicPr preferRelativeResize="0">
            <a:picLocks noChangeAspect="1"/>
          </p:cNvPicPr>
          <p:nvPr/>
        </p:nvPicPr>
        <p:blipFill rotWithShape="1">
          <a:blip r:embed="rId102">
            <a:alphaModFix/>
          </a:blip>
          <a:srcRect l="0" t="0" r="0" b="0"/>
          <a:stretch>
            <a:fillRect/>
          </a:stretch>
        </p:blipFill>
        <p:spPr>
          <a:xfrm>
            <a:off x="6932376" y="3651880"/>
            <a:ext cx="3838032" cy="20688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TextBox 35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ECAD Engineering: Schematic Verification, Grounding &amp; Routing Schedule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9 FUNCTIONAL BLOCKS &amp; VERIFICATION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Schematic Integrity: ExitIQ.kicad_sch contains 9 organized functional sheets. KiCad Electrical Rules Check (ERC) passed with 0 Errors, 0 Warnings (ExitIQ_ERC.rpt).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5V Ingress &amp; TVS Protection: USB-C input clamped with Littelfuse SMAJ5.0A TVS diode (400W peak) + 2.0A PTC resettable polyfuse.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Sensor Thermal Isolation: Dedicated physical slot in FR4 PCB (Edge.Cuts, 1.0mm wide) mechanically separates SHT40/SGP40 from MCU/boost regulator thermal dissipation.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Level Shifting &amp; LED Line Integrity: TI 74AHCT1G125 high-speed buffer translates 3.3V ESP32 GPIO to 5.0V WS2812B DIN; 330Ω damping resistor suppresses transmission reflections.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Ground Plane Design: Continuous solid B.Cu ground plane poured beneath all digital logic; power loops minimized.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PCB Completion Status: Schematic ERC 100% passed (0 Errors). PCB routing 100% complete (0 unrouted nets, 0 unconnected pads, 70 nets, 642 tracks) with solid B.Cu ground plane and verified DRC.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endParaRPr lang="en-US"/>
          </a:p>
        </p:txBody>
      </p:sp>
      <p:pic>
        <p:nvPicPr>
          <p:cNvPr id="9360" name="ExitIQ_PCB_Top_3D" descr="ExitIQ_PCB_Top_3D.png"/>
          <p:cNvPicPr preferRelativeResize="0">
            <a:picLocks noChangeAspect="1"/>
          </p:cNvPicPr>
          <p:nvPr/>
        </p:nvPicPr>
        <p:blipFill rotWithShape="1">
          <a:blip r:embed="rId101">
            <a:alphaModFix/>
          </a:blip>
          <a:srcRect l="0" t="0" r="0" b="0"/>
          <a:stretch>
            <a:fillRect/>
          </a:stretch>
        </p:blipFill>
        <p:spPr>
          <a:xfrm>
            <a:off x="7000325" y="1320160"/>
            <a:ext cx="3702134" cy="20688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61" name="Rounded Rectangle 360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endParaRPr lang="en-US"/>
          </a:p>
        </p:txBody>
      </p:sp>
      <p:pic>
        <p:nvPicPr>
          <p:cNvPr id="9361" name="ExitIQ_PCB_Routed_Isometric_3D" descr="ExitIQ_PCB_Routed_Isometric_3D.png"/>
          <p:cNvPicPr preferRelativeResize="0">
            <a:picLocks noChangeAspect="1"/>
          </p:cNvPicPr>
          <p:nvPr/>
        </p:nvPicPr>
        <p:blipFill rotWithShape="1">
          <a:blip r:embed="rId102">
            <a:alphaModFix/>
          </a:blip>
          <a:srcRect l="0" t="0" r="0" b="0"/>
          <a:stretch>
            <a:fillRect/>
          </a:stretch>
        </p:blipFill>
        <p:spPr>
          <a:xfrm>
            <a:off x="7000325" y="3651880"/>
            <a:ext cx="3702134" cy="20688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4" name="Google Shape;9384;p1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TextBox 368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Maker Journey: Hands-On Personal Fabrication &amp; Verification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731520" y="128016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PROOF OF PERSONAL FABRICATION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Student Engineering: Hands-on design of electrical schematics, custom PCB carrier layout, CATIA mechanical enclosure, and firmware architecture.</a:t>
            </a:r>
            <a:br/>
            <a:r>
              <a:t>• Authentic Provenance: Verified through progressive Git commit histories, raw ECAD schematic hierarchy, and laboratory test logs.</a:t>
            </a:r>
            <a:br/>
            <a:r>
              <a:t>• Faculty Mentorship: Guided by institutional faculty mentor in regular weekly engineering design reviews.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107C82"/>
                </a:solidFill>
                <a:latin typeface="Segoe UI"/>
              </a:defRPr>
            </a:pPr>
            <a:r>
              <a:t>WORK-IN-PROGRESS SOFTWARE UI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CATIA V5 Active Workspace: Desktop captures show active Part Design parametric trees, pocket operations for sensor apertures, and boss screw-hole specifications.</a:t>
            </a:r>
            <a:br/>
            <a:r>
              <a:t>• KiCad 10 Nightly Environment: Interactive layout session displaying ratnest nets, design rule configuration, and DRC error audit panes.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731520" y="4572000"/>
            <a:ext cx="521208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RAW REPOSITORY AUDIT LINKAGE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Native Engineering Files: Contains native ExitIQ.kicad_sch, ExitIQ.kicad_pcb, CATProduct 3D CAD assemblies, BOM .csv, and ERC reports.</a:t>
            </a:r>
            <a:br/>
            <a:r>
              <a:t>• Public Audit Link: [ADD REAL ACCESSIBLE REPOSITORY LINK - DRIVE / GITHUB]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AUTHENTIC TEAM FABRICATION &amp; LAB WORK PHOTO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Institutional Electronics Laboratory (Camera Photo)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MANDATORY JURY REQUIREMENT: Real photo of student team members assembling/soldering hardware in lab with visible college ID badges. Area left empty for manual insertion.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endParaRPr lang="en-US"/>
          </a:p>
        </p:txBody>
      </p:sp>
      <p:pic>
        <p:nvPicPr>
          <p:cNvPr id="9374" name="ExitIQ_LED_CAD_Alignment_Check" descr="ExitIQ_LED_CAD_Alignment_Check.png"/>
          <p:cNvPicPr preferRelativeResize="0">
            <a:picLocks noChangeAspect="1"/>
          </p:cNvPicPr>
          <p:nvPr/>
        </p:nvPicPr>
        <p:blipFill rotWithShape="1">
          <a:blip r:embed="rId101">
            <a:alphaModFix/>
          </a:blip>
          <a:srcRect l="0" t="0" r="0" b="0"/>
          <a:stretch>
            <a:fillRect/>
          </a:stretch>
        </p:blipFill>
        <p:spPr>
          <a:xfrm>
            <a:off x="6932376" y="3651880"/>
            <a:ext cx="3838032" cy="20688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TextBox 399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Benchmarking ExitIQ Against Commercial Products &amp; Academic Research</a:t>
            </a:r>
          </a:p>
        </p:txBody>
      </p:sp>
      <p:graphicFrame>
        <p:nvGraphicFramePr>
          <p:cNvPr id="401" name="Table 400"/>
          <p:cNvGraphicFramePr>
            <a:graphicFrameLocks noGrp="1"/>
          </p:cNvGraphicFramePr>
          <p:nvPr/>
        </p:nvGraphicFramePr>
        <p:xfrm>
          <a:off x="731520" y="1234440"/>
          <a:ext cx="107259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737360"/>
                <a:gridCol w="1645920"/>
                <a:gridCol w="1737360"/>
                <a:gridCol w="1673352"/>
              </a:tblGrid>
              <a:tr h="497204"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Evaluation Dimension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Conventional Exit Sign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Honeywell NOTIFIER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Eaton FlexiTech / Ex-Lite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Academic Literature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ExitIQ (Proposed System)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Fire &amp; Hazard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None (Signage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(Certified smoke/heat)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None (Emergency sign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(Selected studies)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(SHT40 Temp + SGP40 VOC)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Dynamic Directional Guidance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 (Fixed permanent legend)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Voice alerts (Fixed arrows)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 (Fixed pictogram)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(Adaptive signage)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(8x WS2812B running LEDs)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Zone-by-Zone 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(Panel supervisory zones)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(Sensor-graph models)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(4-state machine + TinyML)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Real-Time Route Recalculation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Manual dispatcher override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(Dijkstra / A* algorithms)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(On-node Dijkstra pathfinder)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Autonomous Offline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(Passive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Requires central panel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(Standalone 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Varies by paper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(100% local-first mesh)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Battery-Backed Emergency Power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Model-dependent backup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Central system UPS backup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(LiFePO4 battery)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Varies by prototype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(TI DPPM, 6.6h runtime)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Development &amp; Testing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Published research papers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Designed &amp; verified in CAD/ERC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2" name="Rounded Rectangle 401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CORE BENCHMARK FINDING: THE LOCAL-FIRST INTEGRATION ADVANTAGE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Commercial Gap: Commercial systems offer rugged hardware and certified alarms but lack dynamic arrow redirection.</a:t>
            </a:r>
            <a:br/>
            <a:r>
              <a:t>• Academic Gap: Research papers demonstrate dynamic routing in simulation but rely on complex central servers and rarely integrate battery-backed hardware.</a:t>
            </a:r>
            <a:br/>
            <a:r>
              <a:t>• ExitIQ Contribution: Integrates adaptive directional guidance, local sensor fusion, and brownout-free battery power into an affordable (₹3,585) decentralized node.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TextBox 41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Innovation Advantage: What Is Solved vs. ExitIQ's Contribution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FOUNDATIONAL LITERATURE INSIGHTS</a:t>
            </a:r>
          </a:p>
          <a:p>
            <a:pPr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What Has Already Been Solved in Safety Research: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Dynamic Routing Exists: Algorithms (Dijkstra, A*, PSO) can recalculate egress paths as environmental hazards shift (Fire Safety Journal 2015; Building &amp; Environment 2020).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Adaptive Visuals Work: Human participant studies confirm occupants follow dynamic directional arrows (89% compliance demonstrated in 2020 complex building evacuation trial).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Battery Signs Are Mature: Commercial products (Eaton FlexiTech/Ex-Lite) prove 90-180 minute reliable battery backup operation in rugged industrial enclosures.</a:t>
            </a:r>
          </a:p>
          <a:p>
            <a:pPr>
              <a:spcBef>
                <a:spcPts val="800"/>
              </a:spcBef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The Unaddressed Implementation Gap: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Literature proves algorithms in simulation; commercial products provide reliable power without dynamic intelligence. No low-cost, decentralized terminal bridges this divide for typical manufacturing plants.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6245352" y="1280160"/>
            <a:ext cx="521208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228B22"/>
                </a:solidFill>
                <a:latin typeface="Segoe UI"/>
              </a:defRPr>
            </a:pPr>
            <a:r>
              <a:t>EXITIQ'S TANGIBLE CONTRIBUTION</a:t>
            </a:r>
          </a:p>
          <a:p>
            <a:pPr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Four Tangible Demonstrations Engineered by Our Team: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Corridor Threat Detection: Sensirion SHT40 + SGP40 dual sensor bay detects pyrolysis gases and thermal spikes; ESP32-S3 transitions zone to HIGH RISK (&lt;500ms target).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Real-Time Redirection: On-node pathfinder recalculates safest route and flips WS2812B green LED running arrows to alternate safe exit (&lt;100ms target).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Mains Disconnect Continuity: TI BQ24074 DPPM switches from 5V USB-C to 18650 Li-Ion cell in &lt;100ns without brownout dip, sustaining guidance for 6.6 hours.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Local Comms Fallback: If central network links sever, node executes deterministic autonomous fallback rules with local fault annunciation.</a:t>
            </a:r>
          </a:p>
          <a:p>
            <a:pPr>
              <a:spcBef>
                <a:spcPts val="800"/>
              </a:spcBef>
              <a:defRPr sz="900" b="1" i="0">
                <a:solidFill>
                  <a:srgbClr val="228B22"/>
                </a:solidFill>
                <a:latin typeface="Segoe UI"/>
              </a:defRPr>
            </a:pPr>
            <a:r>
              <a:t>Outcome: A low-cost, local-first safety terminal that bridges the gap between commercial alarm systems and theoretical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TextBox 416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Safety by Design: Multi-Tiered Fail-Safes &amp; Design FMEA Matrix</a:t>
            </a:r>
          </a:p>
        </p:txBody>
      </p:sp>
      <p:graphicFrame>
        <p:nvGraphicFramePr>
          <p:cNvPr id="418" name="Table 417"/>
          <p:cNvGraphicFramePr>
            <a:graphicFrameLocks noGrp="1"/>
          </p:cNvGraphicFramePr>
          <p:nvPr/>
        </p:nvGraphicFramePr>
        <p:xfrm>
          <a:off x="731520" y="1234440"/>
          <a:ext cx="107259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3959352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Potential Failure Mode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Operational Hazard &amp; Severity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Design Mitigation &amp; Hardware Fail-Safe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Mains 5V Power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Controller reset, loss of guidance, darkness and panic in corridors during emergency.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BQ24074 DPPM switches to 18650 cell in &lt;100ns (zero brownout dip); supplies guidance for 6.6 hours.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ECAD (Verified in datasheet)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Sensor Failure / Drift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Stale or false low-risk reading directing fleeing occupants toward an advancing fire front.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Firmware I2C watchdog; unreadable zone immediately marked as HIGH RISK; defaults to deterministic safe rule.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Firmware / Routing Lockup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Frozen directional arrows displaying outdated or unsafe paths during critical evacuation.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ESP32-S3 hardware Watchdog Timer (WDT) triggers hard reset within 1.0s; falls back to static lookup 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LED Indicator Array 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Loss of primary visual arrow indicators at critical corridor junction point.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Triple redundancy: SSD1306 OLED displays text; CUI CMT-8540S buzzer pulses audible directional alert.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Hardware (ERC passed)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Route Blocked After Calc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Occupants routed into corridor where fire just breached after recalculation.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FreeRTOS task loops every 500ms; continuous sensor checks recalculate route dynamically.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9" name="Rounded Rectangle 418"/>
          <p:cNvSpPr/>
          <p:nvPr/>
        </p:nvSpPr>
        <p:spPr>
          <a:xfrm>
            <a:off x="731520" y="4892040"/>
            <a:ext cx="10725912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REGULATORY SAFETY DEMARCATION &amp; OPERATIONAL BOUNDARIES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Supplementary Guidance Only: ExitIQ is an experimental research prototype engineered to provide adaptive guidance; it does NOT replace certified building fire alarm systems (EN 54 / NFPA 72) or statutory emergency lighting.</a:t>
            </a:r>
            <a:br/>
            <a:r>
              <a:t>• Sensor Demarcation: The Sensirion SGP40 is an MOx-based VOC air quality index sensor, NOT a certified smoke detector.</a:t>
            </a:r>
            <a:br/>
            <a:r>
              <a:t>• Standards Grounding: Battery endurance meets NFPA 101 (&gt;90 min emergency runtime benchmark: 6.6h calculated); PCB adheres to IPC-2221A Class 2 clearances.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TextBox 46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Four-Month Prototype Implementation Roadmap: Stage 2 to Stage 3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731520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0E1C36"/>
                </a:solidFill>
                <a:latin typeface="Segoe UI"/>
              </a:defRPr>
            </a:pPr>
            <a:r>
              <a:t>MONTH 1 (OCT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ECAD &amp; MCAD SIGN-OFF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Complete KiCad push-and-shove routing schedule.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Re-run full DRC (0 unrouted nets).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Export production Gerber and drill package.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3D print initial PETG enclosure prototype.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3456432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MONTH 2 (NOV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FABRICATION &amp; SMT ASSEMBLY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Fabricate 2-layer FR4 PCB at domestic fab house.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Component arrival &amp; SMT hand-soldering.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Benchtop power-path switchover test under 1.5A load.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Verify I2C sensor communications &amp; LED drivers.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6181344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MONTH 3 (DEC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FIRMWARE &amp; TINYML INTEGRATION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Implement ESP32-S3 FreeRTOS firmware.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Build dual-sensor calibration &amp; fusion pipeline.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Train lightweight TinyML classifier on safe data.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Integrate Dijkstra graph route engine.</a:t>
            </a:r>
          </a:p>
        </p:txBody>
      </p:sp>
      <p:sp>
        <p:nvSpPr>
          <p:cNvPr id="465" name="Rounded Rectangle 464"/>
          <p:cNvSpPr/>
          <p:nvPr/>
        </p:nvSpPr>
        <p:spPr>
          <a:xfrm>
            <a:off x="8906256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MONTH 4 (JAN 2027)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MULTI-ZONE STAGE 3 DEMO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Construct 3–5 zone miniature floor plan board.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Execute simulated fire emergency scenarios.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Benchmark detection latency &amp; battery endurance.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Present live functional demo for Stage 3 jury.</a:t>
            </a:r>
          </a:p>
        </p:txBody>
      </p:sp>
      <p:sp>
        <p:nvSpPr>
          <p:cNvPr id="466" name="Rounded Rectangle 465"/>
          <p:cNvSpPr/>
          <p:nvPr/>
        </p:nvSpPr>
        <p:spPr>
          <a:xfrm>
            <a:off x="731520" y="4754880"/>
            <a:ext cx="1072591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050" b="1" i="0">
                <a:solidFill>
                  <a:srgbClr val="228B22"/>
                </a:solidFill>
                <a:latin typeface="Segoe UI"/>
              </a:defRPr>
            </a:pPr>
            <a:r>
              <a:t>PROTOTYPE VALIDATION TARGETS (TO BE BENCHMARKED IN STAGE 3 TRIAL)</a:t>
            </a:r>
          </a:p>
          <a:p>
            <a:pPr>
              <a:defRPr sz="900" b="0" i="0">
                <a:solidFill>
                  <a:srgbClr val="2D3748"/>
                </a:solidFill>
                <a:latin typeface="Segoe UI"/>
              </a:defRPr>
            </a:pPr>
            <a:r>
              <a:t>• Hazard Detection Latency: Target &lt; 500 ms from safe test stimulus to risk classification.</a:t>
            </a:r>
            <a:br/>
            <a:r>
              <a:t>• Route Recalculation Time: Target &lt; 100 ms on ESP32-S3 internal core.</a:t>
            </a:r>
            <a:br/>
            <a:r>
              <a:t>• Emergency Battery Runtime: Target &gt; 6.0 hours (calculated: 6.6 hours @ 460mA load on 3400mAh cell).</a:t>
            </a:r>
            <a:br/>
            <a:r>
              <a:t>• Route Safety Success Rate: Target 100% avoidance of simulated high-risk zones across all repeatable test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TextBox 47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Engineering Bottlenecks: Critical Design Constraints Analyzed</a:t>
            </a:r>
          </a:p>
        </p:txBody>
      </p:sp>
      <p:sp>
        <p:nvSpPr>
          <p:cNvPr id="474" name="Rounded Rectangle 473"/>
          <p:cNvSpPr/>
          <p:nvPr/>
        </p:nvSpPr>
        <p:spPr>
          <a:xfrm>
            <a:off x="731520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BE2828"/>
                </a:solidFill>
                <a:latin typeface="Segoe UI"/>
              </a:defRPr>
            </a:pPr>
            <a:r>
              <a:t>1. DYNAMIC CURRENT SPIKES &amp; BROWNOUT RISK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WS2812B LEDs draw up to 480mA during full strobe; ESP32-S3 draws 355mA during Wi-Fi bursts.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Combined current spikes exceed 800mA, creating steep dynamic load steps.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Without dedicated power-path isolation, voltage sag causes ESP32 brownout reset loops.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2. SENSOR THERMAL COUPLING &amp; FALSE ALARMS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ESP32-S3 and TPS61023 boost regulator dissipate heat locally on the carrier PCB.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Direct thermal conduction through FR4 copper planes artificially elevates SHT40 readings by +3°C to +6°C.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Thermal drift skews SGP40 baseline, generating false VOC fire alerts.</a:t>
            </a:r>
          </a:p>
        </p:txBody>
      </p:sp>
      <p:sp>
        <p:nvSpPr>
          <p:cNvPr id="476" name="Rounded Rectangle 475"/>
          <p:cNvSpPr/>
          <p:nvPr/>
        </p:nvSpPr>
        <p:spPr>
          <a:xfrm>
            <a:off x="731520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SIGNAL INTEGRITY &amp; GROUND IMPEDANCE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High net density (70 nets, 642 tracks) risked ground return loop discontinuities and EMI.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High-frequency digital signals (400kHz I2C, 800kHz WS2812B DIN) require low-impedance ground returns.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Poor ground routing risks crosstalk, bit corruption, and unintended RF emissions.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4. EDGE AI RESOURCE CONSTRAINTS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Complex deep learning fire models cannot run reliably on resource-constrained microcontrollers.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Real-time route calculation must execute deterministically without blocking FreeRTOS sensor loops.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Cloud-based AI inference fails completely if building internet infrastructure collapses.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18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TextBox 484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Verified Engineering Mitigations: Rigorous Technical Solutions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31520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228B22"/>
                </a:solidFill>
                <a:latin typeface="Segoe UI"/>
              </a:defRPr>
            </a:pPr>
            <a:r>
              <a:t>1. DYNAMIC POWER-PATH &amp; BOOST REGULATION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Integrated TI BQ24074 DPPM to autonomously manage input current limits.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Paired with TI TPS61023 synchronous boost converter delivering up to 3.7A valley switch current.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Bulk decoupling capacitors (100µF electrolytic + 22µF ceramic) absorb transient current steps.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Ensures uninterrupted &lt;100ns brownout-free battery switchover during total mains blackout.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2. PHYSICAL PCB THERMAL ISOLATION SLOT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Milled a 1.0mm physical air gap slot through FR4 (Edge.Cuts, X=72-73mm, Y=14-28mm).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Mechanically severs copper heat conduction between MCU/regulator and the sensor bay.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Airflow louvers in the CATIA enclosure provide passive convection to sample true ambient air.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Maintains Sensirion SHT40 temperature measurement accuracy within ±0.2°C.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31520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LOW-IMPEDANCE GROUND RETURN &amp; ROUTING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Poured a solid, low-impedance ground return plane on B.Cu beneath all digital signal traces.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Placed a TI 74AHCT1G125 high-speed buffer near ESP32 GPIO to level-shift 3.3V to 5.0V with a 330Ω damping resistor.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Completed 100% interactive push-and-shove routing with 0 unrouted nets, 0 shorts, and continuous ground return.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4. LIGHTWEIGHT QUANTIZED MODEL &amp; RULES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Designed compact decision tree / quantized TinyML model running in &lt;32KB SRAM.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FreeRTOS timer enforces deterministic 500ms sensor fusion and &lt;100ms Dijkstra route recalculation.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100% on-device edge computation operates flawlessly without external internet or cloud reliance.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TextBox 516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Industrial Impact, Scalability &amp; Technology Horizons</a:t>
            </a:r>
          </a:p>
        </p:txBody>
      </p:sp>
      <p:sp>
        <p:nvSpPr>
          <p:cNvPr id="518" name="Rounded Rectangle 517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IMMEDIATE INDUSTRIAL IMPACT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Panic Reduction: Eliminates lethal corridor hesitation by providing unambiguous, active green arrow strobes away from danger.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Preventing Bottlenecks: Dynamic multi-path routing prevents crowd congestion at single primary exits, distributing flow across all safe doors.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Cost-Effective Retrofit: Affordable ₹3,585 INR unit cost allows industrial plants to deploy dense node grids alongside existing certified fire systems.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True Offline Autonomy: Operates reliably through total facility blackouts and internet loss, protecting workers when central building networks fail.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6245352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SCALABILITY &amp; HORIZONS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Mesh Network Expansion: Scale from single-node prototypes to multi-hop 50+ node industrial meshes using ESP-NOW and Sub-GHz RF.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AI Computer Vision Module: Integrate low-cost ESP32-CAM nodes for optical flame recognition, crowd density tracking, and blocked path detection.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Digital Twin Integration: Stream real-time zone risk vectors to facility BIM digital twins and central emergency monitoring dashboards.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Worker Wearable Integration: Broadcast BLE localized hazard vectors to industrial smart watches and badges for tactile vibration alerts.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TextBox 52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Technical References, Regulatory Standards &amp; Master Conclusion</a:t>
            </a:r>
          </a:p>
        </p:txBody>
      </p:sp>
      <p:sp>
        <p:nvSpPr>
          <p:cNvPr id="522" name="Rounded Rectangle 521"/>
          <p:cNvSpPr/>
          <p:nvPr/>
        </p:nvSpPr>
        <p:spPr>
          <a:xfrm>
            <a:off x="731520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COMPONENT DATASHEETS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Espressif Systems: ESP32-S3 Series Datasheet v1.6 &amp; Hardware Design Guidelines (2025).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Texas Instruments: BQ24074 1.5A Dynamic Power-Path Li-Ion Charger (SLUS810M).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Texas Instruments: TPS61023 Synchronous Boost Converter Datasheet (SLVSEJ3).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Sensirion AG: SHT4x Digital Temp/RH &amp; SGP40 Digital MOx VOC Sensor Interfaces.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Worldsemi: WS2812B Intelligent Control LED Integrated Light Source Specification.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4379976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ACADEMIC LITERATURE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'Testing a real-time intelligent evacuation guiding system for complex buildings' — Building and Environment, Vol. 174, 2020.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'Integrating sensing, routing and timing for indoor evacuation' — Fire Safety Journal, Vol. 78, 2015.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'Fire evacuation supported by centralized and decentralized visual guidance systems' — Safety Science, Vol. 147, 2022.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'Real-time evacuation route selection methodology for complex buildings' — ScienceDirect, 2017.</a:t>
            </a:r>
          </a:p>
        </p:txBody>
      </p:sp>
      <p:sp>
        <p:nvSpPr>
          <p:cNvPr id="524" name="Rounded Rectangle 523"/>
          <p:cNvSpPr/>
          <p:nvPr/>
        </p:nvSpPr>
        <p:spPr>
          <a:xfrm>
            <a:off x="8028432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REGULATORY STANDARDS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NFPA 101: Life Safety Code (Emergency Egress Lighting Standards: &gt;90 min runtime).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UL 924: Standard for Emergency Lighting and Power Equipment.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IEC 62368-1: Audio/video, information and communication technology equipment safety.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IPC-2221A: Generic Standard on Printed Board Design (Class 2 clearances).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ISO 7010: Graphical symbols — Safety colors and safety signs.</a:t>
            </a:r>
          </a:p>
        </p:txBody>
      </p:sp>
      <p:sp>
        <p:nvSpPr>
          <p:cNvPr id="525" name="Rounded Rectangle 524"/>
          <p:cNvSpPr/>
          <p:nvPr/>
        </p:nvSpPr>
        <p:spPr>
          <a:xfrm>
            <a:off x="731520" y="4572000"/>
            <a:ext cx="10725912" cy="1371600"/>
          </a:xfrm>
          <a:prstGeom prst="roundRect">
            <a:avLst/>
          </a:prstGeom>
          <a:solidFill>
            <a:srgbClr val="0E1C3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300" b="1" i="0">
                <a:solidFill>
                  <a:srgbClr val="E3562A"/>
                </a:solidFill>
                <a:latin typeface="Segoe UI"/>
              </a:defRPr>
            </a:pPr>
            <a:r>
              <a:t>"WHEN DANGER CHANGES, THE SAFEST WAY OUT MUST CHANGE WITH IT."</a:t>
            </a:r>
          </a:p>
          <a:p>
            <a:pPr algn="ctr">
              <a:spcBef>
                <a:spcPts val="400"/>
              </a:spcBef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ExitIQ bridges the critical gap between detection and survival — delivering an adaptive, battery-backed, and local-first emergency guidance grid to protect industrial workers when conventional systems fail.</a:t>
            </a:r>
          </a:p>
          <a:p>
            <a:pPr algn="ctr">
              <a:spcBef>
                <a:spcPts val="600"/>
              </a:spcBef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Thank you. Questions &amp; Technical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